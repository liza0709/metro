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7621"/>
    <a:srgbClr val="F1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96" autoAdjust="0"/>
    <p:restoredTop sz="94660"/>
  </p:normalViewPr>
  <p:slideViewPr>
    <p:cSldViewPr snapToGrid="0">
      <p:cViewPr varScale="1">
        <p:scale>
          <a:sx n="89" d="100"/>
          <a:sy n="89" d="100"/>
        </p:scale>
        <p:origin x="31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175EEC-4CFF-B594-7311-721C61AE0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EF16C29-CAF9-8F83-3129-F592047B66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171269-24BB-F562-05A1-C394FDE6E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73320A-87A6-07BB-7E34-191E6179C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726530-3950-D3B0-95B5-EBCDA0531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498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248206-1582-AC8D-0A92-E053537B4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E49EAC-6FB5-C7D1-9770-7DA0CCC62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D2B826-7B90-FFD6-2A4A-048780355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FF071A-70E6-E12B-DE10-C9E41BC35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B3C6DF-64FF-6A21-15B4-771A6EA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4120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D64103-12D0-EDA4-AEB7-DEDBDB4F5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9D39F2-1AC2-AFDE-F1A9-33B009685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4AD786-C2A6-AEFF-B04A-206CEC3DB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594064-E0CE-E547-F6C5-E291911CB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65B094-FBD9-895C-63A2-64A5344F3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8446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350B92-B8E7-17A2-7DFD-E11E966EB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F62A7B-57D4-150F-B6D1-E1506C9BC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6ECF112-1C9E-B8BD-D947-3D39D7713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8B3EA3C-AD0A-BC59-8016-9F6D24696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B49403-5DFA-EA0F-8669-565F36A7F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489EA3-06A3-1784-B55E-61A2AA05E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9287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52161E-FAEC-A537-238A-E25FEED05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BAC5DD-1E2D-1E31-F5A2-2A5DFE727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6EB9C53-8FE2-F703-5463-15254A805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71AC919-0C02-D88E-4293-C551EF49F6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C2FFBC5-54FE-0331-9D24-5D239D5D2F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A0276A0-B747-0DFE-A139-A02A5E150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C77B45F-4E3D-E432-3374-D8A0D9DAA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895F292-B97D-7832-D7B0-F45C1682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241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7B3C4F-2028-0116-FB7F-0C37EA473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F569C30-BA4C-7CAD-CAB0-9B8C5E922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C230135-A092-1B7D-FADE-08B18C6D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DA574B1-BA3D-A411-B6AA-8E3DF1F6A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1781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790EDF5-D224-AC10-87AC-E6E1B784C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3D07150-E775-4284-5EBD-C621926A9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B713B3-02AD-0CA5-EC2C-B36A3B0B1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2613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13C05D-91FF-799E-DCFD-0F18D60E7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98934D-6AEF-6551-4C9B-F4892ECD6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041CB76-532C-49E8-20D8-865DBF7BE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5FFB7B-E5F6-6E48-44E4-CC9ABDF69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CA25B3-18AF-A106-E451-214114FD8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B7D5E7-33B0-064A-D302-FE432963C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0898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006964-7F3D-EB30-B96E-3E5E69A22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3CE9CD9-8FA1-0A93-3BE8-7C51ACE9B1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C7077CF-076D-2D69-2167-A6AF0A5D2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8D4B85-1658-A232-6A23-A251BF628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EFE8E7B-EEDE-B158-38C4-7B1E94751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8ADA9B-3744-A555-B926-1E9329BC7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7244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47CA3-D479-D306-086C-C5B98FA19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28492FA-564E-E7BD-EBFF-D2FB96F84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9A6542-DCE7-7543-27CF-A20B4012A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EEB8C0-A87A-1D12-F785-D4494B85E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B5984D-CFD7-F2B6-D662-B68638616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26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9D83A0A-0EB8-F468-4E92-B07F5A0E8A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42B3C4-FD8C-959B-75FC-D6F764771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0B1733-946E-E71E-BA62-AE3BC7E8D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4903C3-6031-977A-6AB7-679CE359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ADA4F2-08FE-559E-359C-D77FBB421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5873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0CCFAC-EE4B-ECBE-5CC9-20E1CB69D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79DA54-7ABB-FA56-7BE8-19490F321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E29A5B-43AD-1465-1879-41AA75FE25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0E940A-2A12-F9F1-F699-FCF408FC8B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612552-6BF4-A457-5FBD-5417CC6F0C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0813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Выставка достижений народного хозяйства (ВДНХ) - Музеи | Артхив">
            <a:extLst>
              <a:ext uri="{FF2B5EF4-FFF2-40B4-BE49-F238E27FC236}">
                <a16:creationId xmlns:a16="http://schemas.microsoft.com/office/drawing/2014/main" id="{F035A3E7-5A5C-F39B-0DC3-FDC41270C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763" y="0"/>
            <a:ext cx="102822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4BBC16-754E-543C-BE9D-301CBE3DB7F0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F8776A-5592-143E-0612-24D6945345D4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ВДНХ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EEC283-A7A7-CF54-61FF-4B0280E656E5}"/>
              </a:ext>
            </a:extLst>
          </p:cNvPr>
          <p:cNvSpPr txBox="1"/>
          <p:nvPr/>
        </p:nvSpPr>
        <p:spPr>
          <a:xfrm>
            <a:off x="163902" y="3090446"/>
            <a:ext cx="3243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ВДНХ (Выставка достижений народного хозяйства)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крупнейший экспозиционный, музейный и рекреационный комплекс в Москве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, один из самых популярных общественных пространств в мире.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77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 descr="Музей космонавтики ~ Новости музея ~ Музей космонавтики «оживил» главный  космический символ Москвы">
            <a:extLst>
              <a:ext uri="{FF2B5EF4-FFF2-40B4-BE49-F238E27FC236}">
                <a16:creationId xmlns:a16="http://schemas.microsoft.com/office/drawing/2014/main" id="{C3E1E76F-976F-622D-48A0-060C237E6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61" y="-1"/>
            <a:ext cx="11698939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E91417-1463-6B02-C546-F69CF61CD66A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B1AE58-4727-5567-7335-16C04AF6F819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ВДНХ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D2C26C-0A57-0882-D2BA-60C5BFDDC29C}"/>
              </a:ext>
            </a:extLst>
          </p:cNvPr>
          <p:cNvSpPr txBox="1"/>
          <p:nvPr/>
        </p:nvSpPr>
        <p:spPr>
          <a:xfrm>
            <a:off x="163902" y="3090446"/>
            <a:ext cx="32435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Московский Музей космонавтики — </a:t>
            </a:r>
            <a:r>
              <a:rPr lang="ru-RU" sz="1600" dirty="0">
                <a:latin typeface="Bahnschrift Light Condensed" panose="020B0502040204020203" pitchFamily="34" charset="0"/>
              </a:rPr>
              <a:t>один из крупнейших научно-исторических музеев мира, расположенный в стилобате монумента «Покорителям космоса» на Аллее Космонавтов</a:t>
            </a:r>
          </a:p>
        </p:txBody>
      </p:sp>
    </p:spTree>
    <p:extLst>
      <p:ext uri="{BB962C8B-B14F-4D97-AF65-F5344CB8AC3E}">
        <p14:creationId xmlns:p14="http://schemas.microsoft.com/office/powerpoint/2010/main" val="1081989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Фонтан «Золотой Колос» — Узнай Москву">
            <a:extLst>
              <a:ext uri="{FF2B5EF4-FFF2-40B4-BE49-F238E27FC236}">
                <a16:creationId xmlns:a16="http://schemas.microsoft.com/office/drawing/2014/main" id="{FC40B323-E744-8F64-0F41-60161CCCC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F1A90-1E14-1022-6B9F-C2A6233E9C52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0E1882-F875-0275-45CE-CCCD3855EF50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ВДНХ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A06F8A-2BAD-766F-A0D3-A9EDDFE184D8}"/>
              </a:ext>
            </a:extLst>
          </p:cNvPr>
          <p:cNvSpPr txBox="1"/>
          <p:nvPr/>
        </p:nvSpPr>
        <p:spPr>
          <a:xfrm>
            <a:off x="163902" y="3090446"/>
            <a:ext cx="32435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Фонтан «Золотой колос» — </a:t>
            </a:r>
            <a:r>
              <a:rPr lang="ru-RU" sz="1600" dirty="0">
                <a:latin typeface="Bahnschrift Light Condensed" panose="020B0502040204020203" pitchFamily="34" charset="0"/>
              </a:rPr>
              <a:t>один из самых красивых и величественных исторических фонтанов на территории ВДНХ в Москве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Он символизирует изобилие, плодородие и богатство советской земли.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787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Тихвинская церковь в Алексеевском — Узнай Москву">
            <a:extLst>
              <a:ext uri="{FF2B5EF4-FFF2-40B4-BE49-F238E27FC236}">
                <a16:creationId xmlns:a16="http://schemas.microsoft.com/office/drawing/2014/main" id="{DAB6CECF-F05C-64F6-B164-8F05C0428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937" y="0"/>
            <a:ext cx="102790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3D56D4-FC83-8D6B-523D-1826A1E65E24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C9FBB0-D385-5C15-88EB-E16C9623732B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Алексеевская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1337EF-5784-E291-5EA6-C81AD0DE3A5A}"/>
              </a:ext>
            </a:extLst>
          </p:cNvPr>
          <p:cNvSpPr txBox="1"/>
          <p:nvPr/>
        </p:nvSpPr>
        <p:spPr>
          <a:xfrm>
            <a:off x="163902" y="3090446"/>
            <a:ext cx="3243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Храм Тихвинской иконы Божией Матери в Алексеевском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действующий православный храм Северо-Восточного викариатства Московской епархии, расположенный в Москве по адресу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проспект Мира, дом 130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094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Храм Воскресения Христова в Кадашах — Википедия">
            <a:extLst>
              <a:ext uri="{FF2B5EF4-FFF2-40B4-BE49-F238E27FC236}">
                <a16:creationId xmlns:a16="http://schemas.microsoft.com/office/drawing/2014/main" id="{F81ADD0F-7096-6D59-FE8A-590EB84B2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B11B79-513E-C844-BED3-A163A39B684B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A0FB2D-C440-291B-66FD-3BB3B404F295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Алексеевская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244D5A-745C-96C7-821E-D4A55D5C15BF}"/>
              </a:ext>
            </a:extLst>
          </p:cNvPr>
          <p:cNvSpPr txBox="1"/>
          <p:nvPr/>
        </p:nvSpPr>
        <p:spPr>
          <a:xfrm>
            <a:off x="163902" y="3090446"/>
            <a:ext cx="32435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Церковь Воскресения Христова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название множества христианских храмов, освященных в честь главного христианского праздника — Воскресения Иисуса Христа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68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Московский театр–студия &quot;Отражение&quot; в Москве – как добраться, цены, 66  отзывов, телефон – на Yell.ru">
            <a:extLst>
              <a:ext uri="{FF2B5EF4-FFF2-40B4-BE49-F238E27FC236}">
                <a16:creationId xmlns:a16="http://schemas.microsoft.com/office/drawing/2014/main" id="{1555263C-25EE-2CC6-8598-94962E958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9" y="0"/>
            <a:ext cx="1218481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376015-94BE-65FB-7146-36F1D8B82CC4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AC4C8A-7554-C200-F72B-ED74C56DAC9F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Алексеевская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CF9577-FACC-23B0-A0E1-8A33E81D5224}"/>
              </a:ext>
            </a:extLst>
          </p:cNvPr>
          <p:cNvSpPr txBox="1"/>
          <p:nvPr/>
        </p:nvSpPr>
        <p:spPr>
          <a:xfrm>
            <a:off x="163902" y="3090446"/>
            <a:ext cx="3243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Театр-студия «Отражение»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известная московская школа актёрского мастерства и любительский драматический театр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, работающий с 2009 года. Студия ориентирована на обучение непрофессионалов</a:t>
            </a:r>
            <a:r>
              <a:rPr lang="ru-RU" sz="1600" dirty="0">
                <a:solidFill>
                  <a:srgbClr val="0A0A0A"/>
                </a:solidFill>
                <a:latin typeface="Bahnschrift Light Condensed" panose="020B0502040204020203" pitchFamily="34" charset="0"/>
              </a:rPr>
              <a:t>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144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4" descr="Москвичи массово приходят за цветами на Рижский рынок | Новости общества |  Известия | 08.03.2026">
            <a:extLst>
              <a:ext uri="{FF2B5EF4-FFF2-40B4-BE49-F238E27FC236}">
                <a16:creationId xmlns:a16="http://schemas.microsoft.com/office/drawing/2014/main" id="{45B27E51-B507-1B82-308C-4651642615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04" r="28974"/>
          <a:stretch/>
        </p:blipFill>
        <p:spPr bwMode="auto">
          <a:xfrm>
            <a:off x="3125165" y="0"/>
            <a:ext cx="906683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8DD399-78F1-4E59-57D3-13ABBDCE5E0F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33D51A-BE84-6B78-8F11-22586A833DAC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Рижская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8B23D0-4D44-5D62-9EC5-0ADFACA3E83C}"/>
              </a:ext>
            </a:extLst>
          </p:cNvPr>
          <p:cNvSpPr txBox="1"/>
          <p:nvPr/>
        </p:nvSpPr>
        <p:spPr>
          <a:xfrm>
            <a:off x="163902" y="3090446"/>
            <a:ext cx="32435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Рижский рынок в Москве — это </a:t>
            </a:r>
            <a:r>
              <a:rPr lang="ru-RU" sz="1600" dirty="0">
                <a:latin typeface="Bahnschrift Light Condensed" panose="020B0502040204020203" pitchFamily="34" charset="0"/>
              </a:rPr>
              <a:t>старейший и самый известный цветочный рынок столицы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, который славится огромным ассортиментом свежих цветов по оптовым и розничным ценам.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793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Выставочный зал Выставочный комплекс РЖД, Москва – Афиша-Выставки">
            <a:extLst>
              <a:ext uri="{FF2B5EF4-FFF2-40B4-BE49-F238E27FC236}">
                <a16:creationId xmlns:a16="http://schemas.microsoft.com/office/drawing/2014/main" id="{121FEC8F-6CD8-D14F-7F8F-A4A73D99C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383" y="0"/>
            <a:ext cx="1094361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9768D4-3697-E5CE-3FB0-10C6AB12875A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379FD0-B9D9-E8B9-9266-5EE2B70EE2B6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Рижская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C858E7-3DB8-18D3-6C9F-967290B4ED45}"/>
              </a:ext>
            </a:extLst>
          </p:cNvPr>
          <p:cNvSpPr txBox="1"/>
          <p:nvPr/>
        </p:nvSpPr>
        <p:spPr>
          <a:xfrm>
            <a:off x="163902" y="3090446"/>
            <a:ext cx="32435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Выставочный комплекс ОАО «РЖД» на Рижском вокзале в Москве окончательно прекратил прием посетителей с 16 февраля 2026 года. Ранее эта площадка, открытая в 2007 году по адресу Рижская площадь, д. 3.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754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Рижский вокзал в Москве – как добраться, ближайшая станция метро, поезда и  электрички">
            <a:extLst>
              <a:ext uri="{FF2B5EF4-FFF2-40B4-BE49-F238E27FC236}">
                <a16:creationId xmlns:a16="http://schemas.microsoft.com/office/drawing/2014/main" id="{B76565F4-BDCD-93EF-371F-80F6380FA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0"/>
            <a:ext cx="106076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5C3F9-0BE7-B1B5-EC4E-891DF5B055EC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5CCEDC-8407-DDC8-81AD-22B01F6A50B3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Рижская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9EC7CC-B7CD-9034-E0BA-5C13309D9C94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Рижский вокзал в Москве — это один из старейших железнодорожных терминалов столицы, который после масштабной реконструкции путей в 2024 году прекратил обслуживание поездов дальнего следования, а весной 2026 года был выставлен ОАО «РЖД» на торги за 4 миллиарда рублей. 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706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Где находится и как попасть в «Аптекарский огород», интересные факты,  растения и экскурсии">
            <a:extLst>
              <a:ext uri="{FF2B5EF4-FFF2-40B4-BE49-F238E27FC236}">
                <a16:creationId xmlns:a16="http://schemas.microsoft.com/office/drawing/2014/main" id="{86C0DC5B-B291-4F1F-3FD8-8541598CE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DC702E-E77B-4CD2-33B1-1871C5174E07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33D6DF-F3FC-6195-8C11-99E80C183EEC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Проспект Мира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DEC655-7452-4E03-8A5E-16E516046045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«Аптекарский огород» (Ботанический сад МГУ) — </a:t>
            </a:r>
            <a:r>
              <a:rPr lang="ru-RU" sz="1600" dirty="0">
                <a:latin typeface="Bahnschrift Light Condensed" panose="020B0502040204020203" pitchFamily="34" charset="0"/>
              </a:rPr>
              <a:t>старейший ботанический сад России, основанный Петром I в 1706</a:t>
            </a:r>
            <a:r>
              <a:rPr lang="ru-RU" sz="1600" b="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 году. На данный момент это один из самых популярных и фотогеничных парков Москвы, предлагающий окунуться в тропики и полюбоваться редкими растениями.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088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Реконструкция спорткомплекса «Олимпийский» — Комплекс градостроительной  политики и строительства города Москвы">
            <a:extLst>
              <a:ext uri="{FF2B5EF4-FFF2-40B4-BE49-F238E27FC236}">
                <a16:creationId xmlns:a16="http://schemas.microsoft.com/office/drawing/2014/main" id="{16025E08-0582-40E3-4261-B7E2593A2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125" y="0"/>
            <a:ext cx="103028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442A41-B649-483B-A85B-E65DCC0D67EE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537FA8-3D22-0D8C-CEF6-8E81DB57B6C7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Проспект Мира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485128-F456-4A4F-FF67-A6DCB4C7FED5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Спортивный комплекс «Олимпийский» в Москве сейчас проходит масштабную тотальную реконструкцию: сдача первой очереди запланирована на 2026 год, а окончательное открытие обновленного многофункционального комплекса (МФК) ожидается в начале 2027 года.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191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6" name="Picture 4" descr="Музей Серебряного века, музей, просп. Мира, 30, стр. 1, Москва — Яндекс  Карты">
            <a:extLst>
              <a:ext uri="{FF2B5EF4-FFF2-40B4-BE49-F238E27FC236}">
                <a16:creationId xmlns:a16="http://schemas.microsoft.com/office/drawing/2014/main" id="{4B78A8C9-7811-0393-35A6-9369EFF0E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533" y="0"/>
            <a:ext cx="1026646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78EB4F-9864-9C39-0C87-20E2C3E000A2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4E456B-5810-8B5E-7524-7F761D7859B1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Проспект Мира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10AFEA-71C1-5125-C523-3C2F8ADBE655}"/>
              </a:ext>
            </a:extLst>
          </p:cNvPr>
          <p:cNvSpPr txBox="1"/>
          <p:nvPr/>
        </p:nvSpPr>
        <p:spPr>
          <a:xfrm>
            <a:off x="163902" y="3090446"/>
            <a:ext cx="32435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Музей Серебряного века (филиал ГМИРЛИ имени В. И. Даля) </a:t>
            </a:r>
            <a:r>
              <a:rPr lang="ru-RU" sz="1600" dirty="0">
                <a:latin typeface="Bahnschrift Light Condensed" panose="020B0502040204020203" pitchFamily="34" charset="0"/>
              </a:rPr>
              <a:t>расположен в Москве по адресу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проспект Мира, дом 30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Это уникальный литературный музей, который находится в особняке купца И. Баева, построенном в стиле северного модерна. Именно в этом здании с 1910 по 1924 год жил и работал поэт</a:t>
            </a:r>
            <a:r>
              <a:rPr lang="ru-RU" sz="1600" dirty="0">
                <a:solidFill>
                  <a:srgbClr val="0A0A0A"/>
                </a:solidFill>
                <a:latin typeface="Bahnschrift Light Condensed" panose="020B0502040204020203" pitchFamily="34" charset="0"/>
              </a:rPr>
              <a:t> и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 писатель Валерий Брюсов. </a:t>
            </a:r>
            <a:br>
              <a:rPr lang="ru-RU" sz="1600" dirty="0">
                <a:latin typeface="Bahnschrift Light Condensed" panose="020B0502040204020203" pitchFamily="34" charset="0"/>
              </a:rPr>
            </a:b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119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Скульптурную композицию &quot;Атом Солнца Олега Табакова&quot; представили в Москве -  ТАСС">
            <a:extLst>
              <a:ext uri="{FF2B5EF4-FFF2-40B4-BE49-F238E27FC236}">
                <a16:creationId xmlns:a16="http://schemas.microsoft.com/office/drawing/2014/main" id="{B8A466D7-6878-3816-0F29-3B586F871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037" y="0"/>
            <a:ext cx="98599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7E2BA7-0CF6-7C51-606D-FE3689DAADF9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8C2544-2B50-8513-15F0-624236B391DA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Сухаревская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DD71AA-351D-F7DF-24AA-CC49E41C5D35}"/>
              </a:ext>
            </a:extLst>
          </p:cNvPr>
          <p:cNvSpPr txBox="1"/>
          <p:nvPr/>
        </p:nvSpPr>
        <p:spPr>
          <a:xfrm>
            <a:off x="163902" y="3090446"/>
            <a:ext cx="3243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«Атом Солнца Олега Табакова»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городская скульптурная композиция в Москве, открытая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14 декабря 2020 года</a:t>
            </a:r>
            <a:r>
              <a:rPr lang="ru-RU" sz="1600" dirty="0">
                <a:latin typeface="Bahnschrift Light Condensed" panose="020B0502040204020203" pitchFamily="34" charset="0"/>
              </a:rPr>
              <a:t> к 85-летию со дня рождения великого актера и режиссера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 </a:t>
            </a:r>
            <a:br>
              <a:rPr lang="ru-RU" sz="1600" dirty="0">
                <a:latin typeface="Bahnschrift Light Condensed" panose="020B0502040204020203" pitchFamily="34" charset="0"/>
              </a:rPr>
            </a:b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436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Театр Олега Табакова («Табакерка») | Централизованная библиотечная система  Автозаводского района г. Нижнего Новгорода">
            <a:extLst>
              <a:ext uri="{FF2B5EF4-FFF2-40B4-BE49-F238E27FC236}">
                <a16:creationId xmlns:a16="http://schemas.microsoft.com/office/drawing/2014/main" id="{5F9CF2C0-5D7D-F4EC-F07F-8BA60DBA9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33" y="-1"/>
            <a:ext cx="1164716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2D7398-14C4-0141-78AE-9D5D6CBC0EDA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306286-FBDB-37B8-D59E-D03E15D3CBE0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Сухаревская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093024-0BAA-C7E8-5954-94C9DC334E3A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Московский театр Олега Табакова («Табакерка») — </a:t>
            </a:r>
            <a:r>
              <a:rPr lang="ru-RU" sz="1600" dirty="0">
                <a:latin typeface="Bahnschrift Light Condensed" panose="020B0502040204020203" pitchFamily="34" charset="0"/>
              </a:rPr>
              <a:t>один из ведущих драматических театров России, художественным руководителем которого является народный артист РФ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Владимир Машков</a:t>
            </a:r>
            <a:r>
              <a:rPr lang="ru-RU" sz="1600" dirty="0">
                <a:latin typeface="Bahnschrift Light Condensed" panose="020B0502040204020203" pitchFamily="34" charset="0"/>
              </a:rPr>
              <a:t>. Театр вырос из творческой студии, созданной Олегом Павловичем Табаковым в 1970-х годах, и официально открылся в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1987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40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Большая Сухаревская площадь в Москве — Яндекс Карты">
            <a:extLst>
              <a:ext uri="{FF2B5EF4-FFF2-40B4-BE49-F238E27FC236}">
                <a16:creationId xmlns:a16="http://schemas.microsoft.com/office/drawing/2014/main" id="{C1419EA8-BF3E-37F7-89A4-2739105E6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847" y="-1"/>
            <a:ext cx="10605153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117AF9-F1BD-7C55-99AD-6DEBEDDD25B0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5BDD50-5018-8B9D-0018-C8D619C89CB8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Сухаревская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EA4E9-199A-C54B-4C90-0A316F3CCEC2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Садовое кольцо — это круговая магистральная система улиц в центре Москвы, в состав которой входит Сухаревская площадь.</a:t>
            </a:r>
            <a:r>
              <a:rPr lang="en-US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 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На месте современного Садового кольца в XVI веке находился Земляной вал.</a:t>
            </a:r>
            <a:r>
              <a:rPr lang="en-US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 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В районе нынешней площади располагались Сретенские ворота Земляного города.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282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Чистые пруды, городской парк, Москва, Чистопрудный бульвар — Яндекс Карты">
            <a:extLst>
              <a:ext uri="{FF2B5EF4-FFF2-40B4-BE49-F238E27FC236}">
                <a16:creationId xmlns:a16="http://schemas.microsoft.com/office/drawing/2014/main" id="{9C8C84E8-E1C7-44A1-4DDF-B9CE06643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6509" y="0"/>
            <a:ext cx="909549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2FEF00-B0AB-21F5-7E08-D26537D64589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C6D4A1-85DF-8C21-A41D-EEC9A9FD3011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Тургеневская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42A84F-9CD1-A055-A9A7-45472B09CB20}"/>
              </a:ext>
            </a:extLst>
          </p:cNvPr>
          <p:cNvSpPr txBox="1"/>
          <p:nvPr/>
        </p:nvSpPr>
        <p:spPr>
          <a:xfrm>
            <a:off x="163902" y="3090446"/>
            <a:ext cx="3243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Чистопрудный бульвар — это один из самых красивых и протяженных (822 метра) бульваров Москвы, расположенный в Басманном районе. Он тянется от площади Мясницкие Ворота до площади Покровские Ворота.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420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Александр Сергеевич Грибоедов, памятник, мемориал, Москва, Чистопрудный  бульвар — Яндекс Карты">
            <a:extLst>
              <a:ext uri="{FF2B5EF4-FFF2-40B4-BE49-F238E27FC236}">
                <a16:creationId xmlns:a16="http://schemas.microsoft.com/office/drawing/2014/main" id="{FDDBB835-0B85-B6C2-FC50-E0F78AC92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769" y="0"/>
            <a:ext cx="976923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BC8871-3294-4789-F396-BF0395A3E375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2577AF-8329-6888-AF0C-CB5052A0080D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Тургеневская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A41AD6-3298-2161-36B9-84A443248DD2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Памятник А. С. Грибоедову в Москве расположен в самом начале Чистопрудного бульвара, рядом со станцией метро «Чистые пруды». Монумент великому русскому драматургу, поэту и дипломату был открыт в 1959 году. Открытие приурочили к 130-й годовщине со дня его трагической гибели в Персии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052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Московский дом: здание Центросоюза - Москвич Mag">
            <a:extLst>
              <a:ext uri="{FF2B5EF4-FFF2-40B4-BE49-F238E27FC236}">
                <a16:creationId xmlns:a16="http://schemas.microsoft.com/office/drawing/2014/main" id="{8F5E852F-1B1F-4452-A7A9-6C1F85AFB7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6" r="29054"/>
          <a:stretch/>
        </p:blipFill>
        <p:spPr bwMode="auto">
          <a:xfrm>
            <a:off x="3528204" y="0"/>
            <a:ext cx="86637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CABC23-17DF-2E7E-6213-BB4898FE59A6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52F721-A428-6A1A-0E8C-C5A2C6B125EE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Тургеневская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423D68-8C48-831F-9D26-AFC1F114224B}"/>
              </a:ext>
            </a:extLst>
          </p:cNvPr>
          <p:cNvSpPr txBox="1"/>
          <p:nvPr/>
        </p:nvSpPr>
        <p:spPr>
          <a:xfrm>
            <a:off x="163902" y="3090446"/>
            <a:ext cx="32435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Здание Центросоюза на Мясницкой улице в Москве — </a:t>
            </a:r>
            <a:r>
              <a:rPr lang="ru-RU" sz="1600" dirty="0">
                <a:latin typeface="Bahnschrift Light Condensed" panose="020B0502040204020203" pitchFamily="34" charset="0"/>
              </a:rPr>
              <a:t>это единственный реализованный проект знаменитого французского архитектора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Ле Корбюзье</a:t>
            </a:r>
            <a:r>
              <a:rPr lang="ru-RU" sz="1600" dirty="0">
                <a:latin typeface="Bahnschrift Light Condensed" panose="020B0502040204020203" pitchFamily="34" charset="0"/>
              </a:rPr>
              <a:t> в России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Построенный в 1928–1936 годах при участии Пьера </a:t>
            </a:r>
            <a:r>
              <a:rPr lang="ru-RU" sz="1600" i="0" dirty="0" err="1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Жаннере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 и советского архитектора Николая Колли, этот комплекс стал одним из первых масштабных офисных зданий.</a:t>
            </a:r>
            <a:br>
              <a:rPr lang="ru-RU" sz="1600" dirty="0">
                <a:latin typeface="Bahnschrift Light Condensed" panose="020B0502040204020203" pitchFamily="34" charset="0"/>
              </a:rPr>
            </a:b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854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Парк Зарядье в Москве: почему его стоит посетить?">
            <a:extLst>
              <a:ext uri="{FF2B5EF4-FFF2-40B4-BE49-F238E27FC236}">
                <a16:creationId xmlns:a16="http://schemas.microsoft.com/office/drawing/2014/main" id="{C5467EEE-7148-C1E8-1934-74F9A8280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837" y="0"/>
            <a:ext cx="103171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93C5B0-8232-6618-753F-DC24E2CCA888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95497E-3C02-8AF5-536F-B3E68C2410B0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Китай-город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38BF34-5553-1750-98B5-8C1695FE5CA6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Парк «Зарядье»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инновационный ландшафтный парк и культурно-просветительский центр в самом сердце Москвы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Территория парка открыта для прогулок круглосуточно и бесплатно. Платный вход действует только на аттракционы, выставки и научно-познавательные объекты.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195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ГУМ">
            <a:extLst>
              <a:ext uri="{FF2B5EF4-FFF2-40B4-BE49-F238E27FC236}">
                <a16:creationId xmlns:a16="http://schemas.microsoft.com/office/drawing/2014/main" id="{C086DB0D-C164-CA1C-F363-0E47C288C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D1CC91-D6D4-CBC7-2887-B710D82CB7BE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7AA142-12F5-8BD9-7F98-442072682F9C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Китай-город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76A5A4-D131-8C3B-A79F-E789333DC2EB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ГУМ (Государственный универсальный магазин) — это главный и самый известный торговый комплекс России, расположенный в самом центре Москвы по адресу Красная площадь, дом 3. Здание является уникальным памятником архитектуры конца XIX века и визитной карточкой столицы. </a:t>
            </a:r>
            <a:br>
              <a:rPr lang="ru-RU" sz="1600" dirty="0">
                <a:latin typeface="Bahnschrift Light Condensed" panose="020B0502040204020203" pitchFamily="34" charset="0"/>
              </a:rPr>
            </a:b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050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В Москве сделали новую &quot;Яму&quot; — Teletype">
            <a:extLst>
              <a:ext uri="{FF2B5EF4-FFF2-40B4-BE49-F238E27FC236}">
                <a16:creationId xmlns:a16="http://schemas.microsoft.com/office/drawing/2014/main" id="{62499547-543D-1FE8-203F-B814451DA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0"/>
            <a:ext cx="103060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7C58BA-BA7F-C953-0B8F-93A2ECB450D8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93D019-19AA-92A1-4FDD-38B378EDB1F1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Китай-город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43BE09-0DF5-3BC4-EE1D-20C6D78EB8D0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Хохловская площадь (известная как «Яма»)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уникальное общественное пространство в центре Москвы на Покровском бульваре, представляющее собой амфитеатр под открытым небом с фрагментом Белгородской стены XVI века в центре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4945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Третьяковская галерея">
            <a:extLst>
              <a:ext uri="{FF2B5EF4-FFF2-40B4-BE49-F238E27FC236}">
                <a16:creationId xmlns:a16="http://schemas.microsoft.com/office/drawing/2014/main" id="{90FE6FCC-F74B-A648-2675-2795F50B92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333"/>
          <a:stretch/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F4106-993D-452F-AAE2-9169CD218AFF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38DCD4-1905-E287-E4C4-880C95DD727F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Третьяковская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599376-A929-4771-91D6-7E994AD6C106}"/>
              </a:ext>
            </a:extLst>
          </p:cNvPr>
          <p:cNvSpPr txBox="1"/>
          <p:nvPr/>
        </p:nvSpPr>
        <p:spPr>
          <a:xfrm>
            <a:off x="163902" y="3090446"/>
            <a:ext cx="3243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u="none" strike="noStrike" dirty="0">
                <a:effectLst/>
                <a:latin typeface="Bahnschrift Light Condensed" panose="020B0502040204020203" pitchFamily="34" charset="0"/>
              </a:rPr>
              <a:t>Государственная Третьяковская галерея — </a:t>
            </a:r>
            <a:r>
              <a:rPr lang="ru-RU" sz="1600" dirty="0">
                <a:latin typeface="Bahnschrift Light Condensed" panose="020B0502040204020203" pitchFamily="34" charset="0"/>
              </a:rPr>
              <a:t>главный музей национального искусства России, объединяющий шедевры от древних икон до современного авангарда. В мае 2026 года музей работает в нескольких зданиях с разными экспозициями.</a:t>
            </a:r>
          </a:p>
        </p:txBody>
      </p:sp>
    </p:spTree>
    <p:extLst>
      <p:ext uri="{BB962C8B-B14F-4D97-AF65-F5344CB8AC3E}">
        <p14:creationId xmlns:p14="http://schemas.microsoft.com/office/powerpoint/2010/main" val="12197219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8A27CD9B-4BAE-F314-A9FA-1ECE08A7BE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563"/>
          <a:stretch/>
        </p:blipFill>
        <p:spPr bwMode="auto">
          <a:xfrm>
            <a:off x="0" y="-2113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FA89F5-83C2-E943-2222-4E18717A517D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1393FF-8BD8-620B-322B-AB54F61CAD75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Третьяковская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490285-DBF5-CAE3-18A2-C3BBC66B2546}"/>
              </a:ext>
            </a:extLst>
          </p:cNvPr>
          <p:cNvSpPr txBox="1"/>
          <p:nvPr/>
        </p:nvSpPr>
        <p:spPr>
          <a:xfrm>
            <a:off x="163902" y="3090446"/>
            <a:ext cx="32435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u="none" strike="noStrike" dirty="0">
                <a:effectLst/>
                <a:latin typeface="Bahnschrift Light Condensed" panose="020B0502040204020203" pitchFamily="34" charset="0"/>
              </a:rPr>
              <a:t>Болотная площадь — </a:t>
            </a:r>
            <a:r>
              <a:rPr lang="ru-RU" sz="1600" dirty="0">
                <a:latin typeface="Bahnschrift Light Condensed" panose="020B0502040204020203" pitchFamily="34" charset="0"/>
              </a:rPr>
              <a:t>одна из старейших и наиболее значимых площадей Москвы, расположенная в районе Якиманка на острове Балчуг, в самом сердце столицы напротив Кремля.</a:t>
            </a:r>
          </a:p>
        </p:txBody>
      </p:sp>
    </p:spTree>
    <p:extLst>
      <p:ext uri="{BB962C8B-B14F-4D97-AF65-F5344CB8AC3E}">
        <p14:creationId xmlns:p14="http://schemas.microsoft.com/office/powerpoint/2010/main" val="25722827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170D6A32-984A-0122-A031-E7FF14B1A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0"/>
            <a:ext cx="12001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2D30C6-5634-CE56-0659-D822D849A1E7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3D8478-6CE8-DCFE-550B-2AFE79A89B81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Третьяковская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1DB653-BB39-F84A-D65B-ECAD96457FBC}"/>
              </a:ext>
            </a:extLst>
          </p:cNvPr>
          <p:cNvSpPr txBox="1"/>
          <p:nvPr/>
        </p:nvSpPr>
        <p:spPr>
          <a:xfrm>
            <a:off x="163902" y="3090446"/>
            <a:ext cx="3243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u="none" strike="noStrike" dirty="0">
                <a:effectLst/>
                <a:latin typeface="Bahnschrift Light Condensed" panose="020B0502040204020203" pitchFamily="34" charset="0"/>
              </a:rPr>
              <a:t>Музей Павла и Сергея Третьяковых</a:t>
            </a:r>
            <a:r>
              <a:rPr lang="ru-RU" sz="1600" dirty="0">
                <a:latin typeface="Bahnschrift Light Condensed" panose="020B0502040204020203" pitchFamily="34" charset="0"/>
              </a:rPr>
              <a:t> — это уникальное музейное пространство в составе Государственной Третьяковской галереи, открытое в отреставрированном родовом доме знаменитых меценатов в Замоскворечье.</a:t>
            </a:r>
          </a:p>
        </p:txBody>
      </p:sp>
    </p:spTree>
    <p:extLst>
      <p:ext uri="{BB962C8B-B14F-4D97-AF65-F5344CB8AC3E}">
        <p14:creationId xmlns:p14="http://schemas.microsoft.com/office/powerpoint/2010/main" val="37174468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2" name="Picture 4" descr="Парк Горького">
            <a:extLst>
              <a:ext uri="{FF2B5EF4-FFF2-40B4-BE49-F238E27FC236}">
                <a16:creationId xmlns:a16="http://schemas.microsoft.com/office/drawing/2014/main" id="{3BDD38DE-42CB-9B50-E7E7-49D7B486D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B603F2-1BC2-741E-3835-54FAD3707A97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CAA1F5-9CC9-921A-DAD2-0CBC3A6B527B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Октябрьская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B4FD77-5E00-036B-E886-70C099B417C3}"/>
              </a:ext>
            </a:extLst>
          </p:cNvPr>
          <p:cNvSpPr txBox="1"/>
          <p:nvPr/>
        </p:nvSpPr>
        <p:spPr>
          <a:xfrm>
            <a:off x="163902" y="3090446"/>
            <a:ext cx="3243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Центральный парк культуры и отдыха имени М. Горького (ЦПКиО) в Москве — это главный общественный парк страны, расположенный вдоль Крымского Вала и Пушкинской набережной. </a:t>
            </a:r>
            <a:br>
              <a:rPr lang="ru-RU" sz="1600" dirty="0">
                <a:latin typeface="Bahnschrift Light Condensed" panose="020B0502040204020203" pitchFamily="34" charset="0"/>
              </a:rPr>
            </a:b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535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Музей современного искусства «Гараж»">
            <a:extLst>
              <a:ext uri="{FF2B5EF4-FFF2-40B4-BE49-F238E27FC236}">
                <a16:creationId xmlns:a16="http://schemas.microsoft.com/office/drawing/2014/main" id="{31F87237-32A1-8489-DDD9-D8800715E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163" y="0"/>
            <a:ext cx="105108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6FA981-3F11-EFC9-5EF7-82824A1CC77E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6F5A89-7143-52D7-C66F-E75775928F60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Октябрьская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BC192F-5F97-3563-6F01-A253DDD4C501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Музей современного искусства «Гараж» — </a:t>
            </a:r>
            <a:r>
              <a:rPr lang="ru-RU" sz="1600" dirty="0">
                <a:latin typeface="Bahnschrift Light Condensed" panose="020B0502040204020203" pitchFamily="34" charset="0"/>
              </a:rPr>
              <a:t>одна из ведущих культурных институций России, основанная в 2008 году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Дарьей Жуковой и Романом Абрамовичем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Музей располагается в Парке Горького в Москве (в реконструированном здании бывшего советского ресторана «Времена года».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111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Минералогический музей имени А. Е. Ферсмана РАН">
            <a:extLst>
              <a:ext uri="{FF2B5EF4-FFF2-40B4-BE49-F238E27FC236}">
                <a16:creationId xmlns:a16="http://schemas.microsoft.com/office/drawing/2014/main" id="{57C732CF-71C7-5DE8-4589-86BF39C6D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433" y="0"/>
            <a:ext cx="1025956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7D042B-8644-0216-DD2E-A733C05653E9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A6CB4B-47AD-459E-7585-C220F0110F0D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Октябрьская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DC4C10-A296-6F5A-8DD2-5C3F918FA0FB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Минералогический музей им. А.Е. Ферсмана РАН в Москве — это </a:t>
            </a:r>
            <a:r>
              <a:rPr lang="ru-RU" sz="1600" dirty="0">
                <a:latin typeface="Bahnschrift Light Condensed" panose="020B0502040204020203" pitchFamily="34" charset="0"/>
              </a:rPr>
              <a:t>крупнейший минералогический музей в России и один из самых известных в мире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Основанный в 1716 году как Минеральный кабинет Кунсткамеры в Санкт-Петербурге, сегодня он хранит более 150 тысяч экспонатов.</a:t>
            </a:r>
            <a:br>
              <a:rPr lang="ru-RU" sz="1600" dirty="0">
                <a:latin typeface="Bahnschrift Light Condensed" panose="020B0502040204020203" pitchFamily="34" charset="0"/>
              </a:rPr>
            </a:b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0452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Шуховская башня, достопримечательность, ул. Шухова, 10, стр. 1, Москва —  Яндекс Карты">
            <a:extLst>
              <a:ext uri="{FF2B5EF4-FFF2-40B4-BE49-F238E27FC236}">
                <a16:creationId xmlns:a16="http://schemas.microsoft.com/office/drawing/2014/main" id="{733604B8-15F4-EFB0-7874-98D323BD5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661" y="0"/>
            <a:ext cx="1052133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F49136-AABB-8C26-2F59-8EE325B04FFE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249ADA-59D0-51F2-93B4-D2F6224A6E6F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Шаболовская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B2217C-6C9C-E589-12F5-693589F9F047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Шуховская башня (Радиобашня имени Коминтерна)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шедевр инженерной мысли, всемирно известный памятник советского авангарда и конструктивизма, возведенный в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1919–1922 годах</a:t>
            </a:r>
            <a:r>
              <a:rPr lang="ru-RU" sz="1600" dirty="0">
                <a:latin typeface="Bahnschrift Light Condensed" panose="020B0502040204020203" pitchFamily="34" charset="0"/>
              </a:rPr>
              <a:t> в Москве на Шаболовке по проекту выдающегося русского инженера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Владимира Шухова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4723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8" name="Picture 4" descr="Донской монастырь, Москва: лучшие советы перед посещением - Tripadvisor">
            <a:extLst>
              <a:ext uri="{FF2B5EF4-FFF2-40B4-BE49-F238E27FC236}">
                <a16:creationId xmlns:a16="http://schemas.microsoft.com/office/drawing/2014/main" id="{2475104A-4DEA-4F85-853F-FF90B0E763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85" r="15700"/>
          <a:stretch/>
        </p:blipFill>
        <p:spPr bwMode="auto">
          <a:xfrm>
            <a:off x="1676398" y="0"/>
            <a:ext cx="105156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0C5803-9512-D57A-E2CF-AD52AAEC01C0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FE9D8F-DC1B-1F35-3255-FA900929F9BE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Шаболовская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597A13-BC06-616A-93AA-C143988FDB49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Донской ставропигиальный мужской монастырь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исторический действующий монастырь Русской православной церкви в Москве, основанный в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1591 году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Обитель была заложена царем Федором Иоанновичем на месте походной церкви русского войска.</a:t>
            </a:r>
            <a:br>
              <a:rPr lang="ru-RU" sz="1600" dirty="0">
                <a:latin typeface="Bahnschrift Light Condensed" panose="020B0502040204020203" pitchFamily="34" charset="0"/>
              </a:rPr>
            </a:b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2437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2" name="Picture 4" descr="Галерея «На Шаболовке» в Москве | A-a-ah.ru">
            <a:extLst>
              <a:ext uri="{FF2B5EF4-FFF2-40B4-BE49-F238E27FC236}">
                <a16:creationId xmlns:a16="http://schemas.microsoft.com/office/drawing/2014/main" id="{0167EA50-F727-C91B-871C-2675C2CDD0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E5D3C8-FE20-3FBC-35D9-AE95A650EC32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32F722-8ACD-B6EF-3B29-AB8166D03526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Шаболовская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4DC187-D902-EEDE-6F4F-DBE6B9D7510B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Галерея «На Шаболовке»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известное выставочное пространство в Москве, входящее в Объединение «Выставочные залы Москвы»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Она расположена в Даниловском районе, в самом сердце </a:t>
            </a:r>
            <a:r>
              <a:rPr lang="ru-RU" sz="1600" i="0" dirty="0" err="1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Хавско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-Шаболовского жилмассива, и известна своей специализацией на русском авангарде.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88976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Московский памятник Юрию Гагарину отреставрируют к 2025 году - Новости -  Общество - РЕВИЗОР.РУ">
            <a:extLst>
              <a:ext uri="{FF2B5EF4-FFF2-40B4-BE49-F238E27FC236}">
                <a16:creationId xmlns:a16="http://schemas.microsoft.com/office/drawing/2014/main" id="{09AA2815-8337-307D-883D-64465AD84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670" y="0"/>
            <a:ext cx="1032433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930CD8-0906-C55D-5FCE-E052DD0BFD35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3D9634-24FE-F634-5862-5308CC013EB8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Ленинский проспект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32ED5C-91BB-385C-C137-F7AB475E2634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Памятник Юрию Гагарину в Москве находится на площади Гагарина (недалеко от станции метро «Ленинский проспект» и станции МЦК «Площадь Гагарина»). Этот уникальный монумент из титана высотой 42,5 метра был установлен в июле 1980 года к Олимпиаде-80.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3063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Место «Смотровая площадка РАН» в Москве | A-a-ah.ru">
            <a:extLst>
              <a:ext uri="{FF2B5EF4-FFF2-40B4-BE49-F238E27FC236}">
                <a16:creationId xmlns:a16="http://schemas.microsoft.com/office/drawing/2014/main" id="{5791DA14-4B5A-B004-9E22-79AEB7F63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057860-4EA5-9021-196D-00847E586CA4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20EA83-B9E1-D0D7-BBB3-2FE0A0451250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Ленинский проспект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5EF541-DBE9-C93C-0E84-08DF3ED9E5A8}"/>
              </a:ext>
            </a:extLst>
          </p:cNvPr>
          <p:cNvSpPr txBox="1"/>
          <p:nvPr/>
        </p:nvSpPr>
        <p:spPr>
          <a:xfrm>
            <a:off x="163902" y="3090446"/>
            <a:ext cx="3243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Смотровая площадка РАН (Российской академии наук) — это </a:t>
            </a:r>
            <a:r>
              <a:rPr lang="ru-RU" sz="1600" dirty="0">
                <a:latin typeface="Bahnschrift Light Condensed" panose="020B0502040204020203" pitchFamily="34" charset="0"/>
              </a:rPr>
              <a:t>бесплатная панорамная зона в Москве на высоте 60 метров, расположенная у подножия знаменитого здания Президиума РАН («золотые мозги»)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0081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Арт-театр на Ленинском, Москва – Афиша-Театры">
            <a:extLst>
              <a:ext uri="{FF2B5EF4-FFF2-40B4-BE49-F238E27FC236}">
                <a16:creationId xmlns:a16="http://schemas.microsoft.com/office/drawing/2014/main" id="{2761575F-519D-574E-4D0C-0171DA9FCA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6" t="114" r="21061" b="-114"/>
          <a:stretch/>
        </p:blipFill>
        <p:spPr bwMode="auto">
          <a:xfrm>
            <a:off x="3145459" y="0"/>
            <a:ext cx="904654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154708-1386-8264-FCF1-6D416982649B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 	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A808BC-6EFD-F9CB-98D4-A53272B2675B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Ленинский проспект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2629C2-7975-ED9C-4867-7F9076A21566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Арт Театр на Ленинском (проект студии «Я сам Артист»)</a:t>
            </a:r>
          </a:p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Это современный репертуарный театр, созданный на базе детской театральной студии. Спектакли и занятия проходят по историческому адресу Москва, Ленинский проспект, 37А 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0035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Государственный Дарвиновский музей, Москва: лучшие советы перед посещением  - Tripadvisor">
            <a:extLst>
              <a:ext uri="{FF2B5EF4-FFF2-40B4-BE49-F238E27FC236}">
                <a16:creationId xmlns:a16="http://schemas.microsoft.com/office/drawing/2014/main" id="{5D4E4C96-C3DF-F7AE-0174-739451CE55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49" r="12846"/>
          <a:stretch/>
        </p:blipFill>
        <p:spPr bwMode="auto">
          <a:xfrm>
            <a:off x="3229336" y="-1"/>
            <a:ext cx="8962663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EDAD5B-B379-8D88-FA6D-CFF74CB39777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CEC3F8-21EC-B0F6-BA22-35486B44CA8C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Академическая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451AD3-B443-020E-1798-E652F4844FD9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Государственный Дарвиновский музей в Москве — это крупнейший в Европе естественно-научный музей, полностью посвященный теории эволюции Чарльза Дарвина. Это популярное интерактивное пространство, ориентированное на семейное посещение.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1317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 descr="Палеонтологический музей им. Ю.А. Орлова">
            <a:extLst>
              <a:ext uri="{FF2B5EF4-FFF2-40B4-BE49-F238E27FC236}">
                <a16:creationId xmlns:a16="http://schemas.microsoft.com/office/drawing/2014/main" id="{CC5D4BFA-90DD-82DF-0DB7-208A83DA2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567" y="0"/>
            <a:ext cx="1029343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3EE9F-0DBC-6BA7-D1DE-75590A874643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2EBA84-6364-DCD5-EE14-7BD45C3305A2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Академическая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C567EA-E9FF-D93D-38F5-8E50B8853856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Палеонтологический музей им. Ю.А. Орлова в Москве — один из крупнейших естественно-исторических музеев мира, экспозиция которого полностью посвящена эволюции органического мира Земли. Музей является частью Палеонтологического института РАН и хранит уникальные коллекции древнейших организмов.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8287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🏠 ЖК «Пирамида» Москва, улица Дмитрия Ульянова, 31 СТД Групп">
            <a:extLst>
              <a:ext uri="{FF2B5EF4-FFF2-40B4-BE49-F238E27FC236}">
                <a16:creationId xmlns:a16="http://schemas.microsoft.com/office/drawing/2014/main" id="{E850750D-5B98-079E-BE6D-3273CA12C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-3175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3FEAB0-1E59-B510-CEDC-27EBE63566CD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F7859A-296E-E9CB-5BAC-C99475533E2E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Академическая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5F3977-8844-9561-A87F-7A63ED30E9D5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Главным и самым известным «домом-пирамидой» в Москве является жилой комплекс «Пирамида», расположенный в Академическом районе по адресу: ул. Дмитрия Ульянова, д. 31. Здание представляет собой 22-этажный ступенчатый монолитно-кирпичный комплекс пирамидальной формы.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1566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 descr="Новый парк «Академический» открылся на юго-западе Москвы / Новости города /  Сайт Москвы">
            <a:extLst>
              <a:ext uri="{FF2B5EF4-FFF2-40B4-BE49-F238E27FC236}">
                <a16:creationId xmlns:a16="http://schemas.microsoft.com/office/drawing/2014/main" id="{2D87483D-A0D7-3BC1-830E-9E188B8B0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5" y="0"/>
            <a:ext cx="1215189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4EDDBF-325A-EC10-3EF0-C52E677729B8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865A24-E47F-A036-8A1B-6D7CCD7F134F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Профсоюзная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C99337-D224-92FC-C247-0C4A08566E70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Академический парк — это современная зона отдыха площадью 16,5 гектара на юго-западе Москвы, открытая в 2017 году на месте бывших хозяйственных баз и гаражей. Парк расположен в Академическом районе между улицами Дмитрия Ульянова, Ферсмана и проспектом 60-летия Октября. 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9023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Усадьба Черёмушки-Знаменское, конный двор, достопримечательность, Москва,  Юго-Западный административный округ, Академический район, 7-й и 8-й  кварталы — Яндекс Карты">
            <a:extLst>
              <a:ext uri="{FF2B5EF4-FFF2-40B4-BE49-F238E27FC236}">
                <a16:creationId xmlns:a16="http://schemas.microsoft.com/office/drawing/2014/main" id="{5ECDCC20-5E1D-D3EC-A864-143032D22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2483" y="-1"/>
            <a:ext cx="1035951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9037BF-4CAB-7C2F-184F-A0ABB0268D39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Калужско-Рижская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B6ED02-CD76-779B-5928-27A1DD20642A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Профсоюзная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326182-6F25-A826-44FB-72B594AA5BB4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Усадьба «Черёмушки-Знаменское» — это бывшая подмосковная дворянская резиденция XVIII–XIX веков, давшая название знаменитому московскому району Черёмушки. В настоящее время исторический архитектурно-парковый ансамбль полностью закрыт для свободного посещения.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0327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Природно-исторический парк Битцевский лес, Москва: лучшие советы перед  посещением - Tripadvisor">
            <a:extLst>
              <a:ext uri="{FF2B5EF4-FFF2-40B4-BE49-F238E27FC236}">
                <a16:creationId xmlns:a16="http://schemas.microsoft.com/office/drawing/2014/main" id="{0F7C3BB6-153D-6DC9-04CA-C2CE1AE25F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1" r="19128"/>
          <a:stretch/>
        </p:blipFill>
        <p:spPr bwMode="auto">
          <a:xfrm>
            <a:off x="2627452" y="0"/>
            <a:ext cx="956454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376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F71A2-2F5C-FC9F-4010-A58E6D473E0E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>
                <a:latin typeface="Bahnschrift Condensed" panose="020B0502040204020203" pitchFamily="34" charset="0"/>
              </a:rPr>
              <a:t>Калужско-Рижская 	</a:t>
            </a:r>
            <a:endParaRPr lang="ru-RU" sz="2000" dirty="0">
              <a:latin typeface="Bahnschrift 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506D52-F4AE-21E7-6AA5-3822AA76FD42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Профсоюзная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3A73D8-1D2A-EF45-1280-32647DFB1C0C}"/>
              </a:ext>
            </a:extLst>
          </p:cNvPr>
          <p:cNvSpPr txBox="1"/>
          <p:nvPr/>
        </p:nvSpPr>
        <p:spPr>
          <a:xfrm>
            <a:off x="163902" y="3090446"/>
            <a:ext cx="32435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Битцевский лес — это огромный природно-исторический парк, расположенный на юго-западе Москвы. Это вторая по величине зеленая зона столицы (после Лосиного Острова), площадью более 2200 гектаров.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0764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1598</Words>
  <Application>Microsoft Office PowerPoint</Application>
  <PresentationFormat>Широкоэкранный</PresentationFormat>
  <Paragraphs>118</Paragraphs>
  <Slides>39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5" baseType="lpstr">
      <vt:lpstr>Aptos</vt:lpstr>
      <vt:lpstr>Aptos Display</vt:lpstr>
      <vt:lpstr>Arial</vt:lpstr>
      <vt:lpstr>Bahnschrift Condensed</vt:lpstr>
      <vt:lpstr>Bahnschrift Light Condensed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Лизок</dc:creator>
  <cp:lastModifiedBy>Лизок</cp:lastModifiedBy>
  <cp:revision>11</cp:revision>
  <dcterms:created xsi:type="dcterms:W3CDTF">2026-04-20T18:33:53Z</dcterms:created>
  <dcterms:modified xsi:type="dcterms:W3CDTF">2026-05-16T17:31:25Z</dcterms:modified>
</cp:coreProperties>
</file>