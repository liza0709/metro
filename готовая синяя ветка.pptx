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1010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26" autoAdjust="0"/>
    <p:restoredTop sz="94660"/>
  </p:normalViewPr>
  <p:slideViewPr>
    <p:cSldViewPr snapToGrid="0">
      <p:cViewPr varScale="1">
        <p:scale>
          <a:sx n="89" d="100"/>
          <a:sy n="89" d="100"/>
        </p:scale>
        <p:origin x="341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175EEC-4CFF-B594-7311-721C61AE0E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EF16C29-CAF9-8F83-3129-F592047B66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5171269-24BB-F562-05A1-C394FDE6E8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7D096C-0985-4368-8BE5-BD3C208D533E}" type="datetimeFigureOut">
              <a:rPr lang="ru-RU" smtClean="0"/>
              <a:t>16.05.2026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473320A-87A6-07BB-7E34-191E6179C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8726530-3950-D3B0-95B5-EBCDA05311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5F234-4166-4E70-B0E8-2BB0789BF271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249879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5248206-1582-AC8D-0A92-E053537B47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3E49EAC-6FB5-C7D1-9770-7DA0CCC622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CD2B826-7B90-FFD6-2A4A-0487803553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7D096C-0985-4368-8BE5-BD3C208D533E}" type="datetimeFigureOut">
              <a:rPr lang="ru-RU" smtClean="0"/>
              <a:t>16.05.2026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AFF071A-70E6-E12B-DE10-C9E41BC358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DB3C6DF-64FF-6A21-15B4-771A6EA344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5F234-4166-4E70-B0E8-2BB0789BF271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941204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2D64103-12D0-EDA4-AEB7-DEDBDB4F53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D9D39F2-1AC2-AFDE-F1A9-33B0096854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64AD786-C2A6-AEFF-B04A-206CEC3DB9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7D096C-0985-4368-8BE5-BD3C208D533E}" type="datetimeFigureOut">
              <a:rPr lang="ru-RU" smtClean="0"/>
              <a:t>16.05.2026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7594064-E0CE-E547-F6C5-E291911CB1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765B094-FBD9-895C-63A2-64A5344F3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5F234-4166-4E70-B0E8-2BB0789BF271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184469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1350B92-B8E7-17A2-7DFD-E11E966EB8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FF62A7B-57D4-150F-B6D1-E1506C9BC7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6ECF112-1C9E-B8BD-D947-3D39D77137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8B3EA3C-AD0A-BC59-8016-9F6D246966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7D096C-0985-4368-8BE5-BD3C208D533E}" type="datetimeFigureOut">
              <a:rPr lang="ru-RU" smtClean="0"/>
              <a:t>16.05.2026</a:t>
            </a:fld>
            <a:endParaRPr lang="ru-RU" dirty="0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0B49403-5DFA-EA0F-8669-565F36A7F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4489EA3-06A3-1784-B55E-61A2AA05E7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5F234-4166-4E70-B0E8-2BB0789BF271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492874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52161E-FAEC-A537-238A-E25FEED055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7BAC5DD-1E2D-1E31-F5A2-2A5DFE7274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6EB9C53-8FE2-F703-5463-15254A8055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E71AC919-0C02-D88E-4293-C551EF49F6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DC2FFBC5-54FE-0331-9D24-5D239D5D2F0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9A0276A0-B747-0DFE-A139-A02A5E150C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7D096C-0985-4368-8BE5-BD3C208D533E}" type="datetimeFigureOut">
              <a:rPr lang="ru-RU" smtClean="0"/>
              <a:t>16.05.2026</a:t>
            </a:fld>
            <a:endParaRPr lang="ru-RU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8C77B45F-4E3D-E432-3374-D8A0D9DAAF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2895F292-B97D-7832-D7B0-F45C16822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5F234-4166-4E70-B0E8-2BB0789BF271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952419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07B3C4F-2028-0116-FB7F-0C37EA473E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7F569C30-BA4C-7CAD-CAB0-9B8C5E922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7D096C-0985-4368-8BE5-BD3C208D533E}" type="datetimeFigureOut">
              <a:rPr lang="ru-RU" smtClean="0"/>
              <a:t>16.05.2026</a:t>
            </a:fld>
            <a:endParaRPr lang="ru-RU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8C230135-A092-1B7D-FADE-08B18C6DBC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0DA574B1-BA3D-A411-B6AA-8E3DF1F6A8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5F234-4166-4E70-B0E8-2BB0789BF271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017812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8790EDF5-D224-AC10-87AC-E6E1B784CE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7D096C-0985-4368-8BE5-BD3C208D533E}" type="datetimeFigureOut">
              <a:rPr lang="ru-RU" smtClean="0"/>
              <a:t>16.05.2026</a:t>
            </a:fld>
            <a:endParaRPr lang="ru-RU" dirty="0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93D07150-E775-4284-5EBD-C621926A94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0B713B3-02AD-0CA5-EC2C-B36A3B0B12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5F234-4166-4E70-B0E8-2BB0789BF271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426139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113C05D-91FF-799E-DCFD-0F18D60E7C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098934D-6AEF-6551-4C9B-F4892ECD68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041CB76-532C-49E8-20D8-865DBF7BEF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95FFB7B-E5F6-6E48-44E4-CC9ABDF69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7D096C-0985-4368-8BE5-BD3C208D533E}" type="datetimeFigureOut">
              <a:rPr lang="ru-RU" smtClean="0"/>
              <a:t>16.05.2026</a:t>
            </a:fld>
            <a:endParaRPr lang="ru-RU" dirty="0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DCA25B3-18AF-A106-E451-214114FD8D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DB7D5E7-33B0-064A-D302-FE432963C6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5F234-4166-4E70-B0E8-2BB0789BF271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708981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006964-7F3D-EB30-B96E-3E5E69A22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B3CE9CD9-8FA1-0A93-3BE8-7C51ACE9B15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C7077CF-076D-2D69-2167-A6AF0A5D2F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78D4B85-1658-A232-6A23-A251BF6289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7D096C-0985-4368-8BE5-BD3C208D533E}" type="datetimeFigureOut">
              <a:rPr lang="ru-RU" smtClean="0"/>
              <a:t>16.05.2026</a:t>
            </a:fld>
            <a:endParaRPr lang="ru-RU" dirty="0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EFE8E7B-EEDE-B158-38C4-7B1E94751D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18ADA9B-3744-A555-B926-1E9329BC76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5F234-4166-4E70-B0E8-2BB0789BF271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872444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647CA3-D479-D306-086C-C5B98FA195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928492FA-564E-E7BD-EBFF-D2FB96F844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09A6542-DCE7-7543-27CF-A20B4012A1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7D096C-0985-4368-8BE5-BD3C208D533E}" type="datetimeFigureOut">
              <a:rPr lang="ru-RU" smtClean="0"/>
              <a:t>16.05.2026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8EEB8C0-A87A-1D12-F785-D4494B85E5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7B5984D-CFD7-F2B6-D662-B68638616D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5F234-4166-4E70-B0E8-2BB0789BF271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74264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49D83A0A-0EB8-F468-4E92-B07F5A0E8A3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A42B3C4-FD8C-959B-75FC-D6F7647712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C0B1733-946E-E71E-BA62-AE3BC7E8DE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7D096C-0985-4368-8BE5-BD3C208D533E}" type="datetimeFigureOut">
              <a:rPr lang="ru-RU" smtClean="0"/>
              <a:t>16.05.2026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74903C3-6031-977A-6AB7-679CE3593A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2ADA4F2-08FE-559E-359C-D77FBB421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5F234-4166-4E70-B0E8-2BB0789BF271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558735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20CCFAC-EE4B-ECBE-5CC9-20E1CB69DB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379DA54-7ABB-FA56-7BE8-19490F3218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4E29A5B-43AD-1465-1879-41AA75FE25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67D096C-0985-4368-8BE5-BD3C208D533E}" type="datetimeFigureOut">
              <a:rPr lang="ru-RU" smtClean="0"/>
              <a:t>16.05.2026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90E940A-2A12-F9F1-F699-FCF408FC8B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5612552-6BF4-A457-5FBD-5417CC6F0C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715F234-4166-4E70-B0E8-2BB0789BF271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008135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Парки у метро Кунцевская в Москве – Афиша">
            <a:extLst>
              <a:ext uri="{FF2B5EF4-FFF2-40B4-BE49-F238E27FC236}">
                <a16:creationId xmlns:a16="http://schemas.microsoft.com/office/drawing/2014/main" id="{4FCE1BF4-C7B0-4551-1CBB-2418C87A6E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0"/>
            <a:ext cx="10287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ABDFCF-2BB8-1DB9-58A7-DC5B010518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18269B5-6E5B-97C0-2A90-AAE5003D95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BA5CA25-3F90-E834-09CC-229964BC61D1}"/>
              </a:ext>
            </a:extLst>
          </p:cNvPr>
          <p:cNvSpPr/>
          <p:nvPr/>
        </p:nvSpPr>
        <p:spPr>
          <a:xfrm>
            <a:off x="0" y="0"/>
            <a:ext cx="3528204" cy="6858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BC923AD-4B71-9049-399D-2900EB8249E4}"/>
              </a:ext>
            </a:extLst>
          </p:cNvPr>
          <p:cNvSpPr txBox="1"/>
          <p:nvPr/>
        </p:nvSpPr>
        <p:spPr>
          <a:xfrm>
            <a:off x="163902" y="181155"/>
            <a:ext cx="32435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latin typeface="Bahnschrift Condensed" panose="020B0502040204020203" pitchFamily="34" charset="0"/>
              </a:rPr>
              <a:t>Арбатско-Покровская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F13493E-A976-C25B-525E-B4647A488BC9}"/>
              </a:ext>
            </a:extLst>
          </p:cNvPr>
          <p:cNvSpPr txBox="1"/>
          <p:nvPr/>
        </p:nvSpPr>
        <p:spPr>
          <a:xfrm>
            <a:off x="163902" y="511760"/>
            <a:ext cx="32435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Bahnschrift Condensed" panose="020B0502040204020203" pitchFamily="34" charset="0"/>
              </a:rPr>
              <a:t>ст. Кунцевская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0FE26AF-DC3E-B30A-C3A4-E7317CA8876E}"/>
              </a:ext>
            </a:extLst>
          </p:cNvPr>
          <p:cNvSpPr txBox="1"/>
          <p:nvPr/>
        </p:nvSpPr>
        <p:spPr>
          <a:xfrm>
            <a:off x="163902" y="3090446"/>
            <a:ext cx="3243532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i="0" dirty="0" err="1">
                <a:solidFill>
                  <a:srgbClr val="0A0A0A"/>
                </a:solidFill>
                <a:effectLst/>
                <a:latin typeface="Bahnschrift Light Condensed" panose="020B0502040204020203" pitchFamily="34" charset="0"/>
              </a:rPr>
              <a:t>Солдатёнковский</a:t>
            </a:r>
            <a:r>
              <a:rPr lang="ru-RU" sz="1600" i="0" dirty="0">
                <a:solidFill>
                  <a:srgbClr val="0A0A0A"/>
                </a:solidFill>
                <a:effectLst/>
                <a:latin typeface="Bahnschrift Light Condensed" panose="020B0502040204020203" pitchFamily="34" charset="0"/>
              </a:rPr>
              <a:t> парк (также известный как парк «Кунцево») — это </a:t>
            </a:r>
            <a:r>
              <a:rPr lang="ru-RU" sz="1600" dirty="0">
                <a:latin typeface="Bahnschrift Light Condensed" panose="020B0502040204020203" pitchFamily="34" charset="0"/>
              </a:rPr>
              <a:t>живописная историческая парковая зона на западе Москвы, входящая в состав единого крупного природно-исторического парка </a:t>
            </a:r>
            <a:r>
              <a:rPr lang="ru-RU" sz="1600" dirty="0">
                <a:effectLst/>
                <a:latin typeface="Bahnschrift Light Condensed" panose="020B0502040204020203" pitchFamily="34" charset="0"/>
              </a:rPr>
              <a:t>«Москворецкий»</a:t>
            </a:r>
            <a:r>
              <a:rPr lang="ru-RU" sz="1600" dirty="0">
                <a:latin typeface="Bahnschrift Light Condensed" panose="020B0502040204020203" pitchFamily="34" charset="0"/>
              </a:rPr>
              <a:t> и плавно переходящая в Суворовский и Филёвский парки</a:t>
            </a:r>
            <a:r>
              <a:rPr lang="ru-RU" sz="1600" i="0" dirty="0">
                <a:solidFill>
                  <a:srgbClr val="0A0A0A"/>
                </a:solidFill>
                <a:effectLst/>
                <a:latin typeface="Bahnschrift Light Condensed" panose="020B0502040204020203" pitchFamily="34" charset="0"/>
              </a:rPr>
              <a:t>. </a:t>
            </a:r>
            <a:endParaRPr lang="ru-RU" sz="1600" dirty="0">
              <a:latin typeface="Bahnschrift Ligh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7775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4" name="Picture 6" descr="Суворов Парк, жилой комплекс, Малая Филёвская ул., 40, корп. 1, Москва —  Яндекс Карты">
            <a:extLst>
              <a:ext uri="{FF2B5EF4-FFF2-40B4-BE49-F238E27FC236}">
                <a16:creationId xmlns:a16="http://schemas.microsoft.com/office/drawing/2014/main" id="{FE14E7A4-DD43-4434-8994-BC4C72CAFD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4703" y="0"/>
            <a:ext cx="1029729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ABDFCF-2BB8-1DB9-58A7-DC5B010518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18269B5-6E5B-97C0-2A90-AAE5003D95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BA5CA25-3F90-E834-09CC-229964BC61D1}"/>
              </a:ext>
            </a:extLst>
          </p:cNvPr>
          <p:cNvSpPr/>
          <p:nvPr/>
        </p:nvSpPr>
        <p:spPr>
          <a:xfrm>
            <a:off x="0" y="0"/>
            <a:ext cx="3528204" cy="6858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390768-9199-4F04-F53C-F3CAC0839C25}"/>
              </a:ext>
            </a:extLst>
          </p:cNvPr>
          <p:cNvSpPr txBox="1"/>
          <p:nvPr/>
        </p:nvSpPr>
        <p:spPr>
          <a:xfrm>
            <a:off x="163902" y="181155"/>
            <a:ext cx="32435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latin typeface="Bahnschrift Condensed" panose="020B0502040204020203" pitchFamily="34" charset="0"/>
              </a:rPr>
              <a:t>Арбатско-Покровская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2F99763-2BE6-2AAD-F6C2-0768E4749CBF}"/>
              </a:ext>
            </a:extLst>
          </p:cNvPr>
          <p:cNvSpPr txBox="1"/>
          <p:nvPr/>
        </p:nvSpPr>
        <p:spPr>
          <a:xfrm>
            <a:off x="163902" y="511760"/>
            <a:ext cx="32435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Bahnschrift Condensed" panose="020B0502040204020203" pitchFamily="34" charset="0"/>
              </a:rPr>
              <a:t>ст. Кунцевская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4705601-996C-A322-CC8C-A85D575FDAD8}"/>
              </a:ext>
            </a:extLst>
          </p:cNvPr>
          <p:cNvSpPr txBox="1"/>
          <p:nvPr/>
        </p:nvSpPr>
        <p:spPr>
          <a:xfrm>
            <a:off x="163902" y="3090446"/>
            <a:ext cx="324353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i="0" dirty="0">
                <a:effectLst/>
                <a:latin typeface="Bahnschrift Light Condensed" panose="020B0502040204020203" pitchFamily="34" charset="0"/>
              </a:rPr>
              <a:t>Суворовский парк — это </a:t>
            </a:r>
            <a:r>
              <a:rPr lang="ru-RU" sz="1600" dirty="0">
                <a:latin typeface="Bahnschrift Light Condensed" panose="020B0502040204020203" pitchFamily="34" charset="0"/>
              </a:rPr>
              <a:t>живописный исторический лесопарк в Западном административном округе Москвы, который сегодня официально </a:t>
            </a:r>
            <a:r>
              <a:rPr lang="ru-RU" sz="1600" dirty="0">
                <a:effectLst/>
                <a:latin typeface="Bahnschrift Light Condensed" panose="020B0502040204020203" pitchFamily="34" charset="0"/>
              </a:rPr>
              <a:t>является западной частью парка культуры и отдыха «Фили»</a:t>
            </a:r>
            <a:r>
              <a:rPr lang="ru-RU" sz="1600" dirty="0">
                <a:latin typeface="Bahnschrift Light Condensed" panose="020B0502040204020203" pitchFamily="34" charset="0"/>
              </a:rPr>
              <a:t> и входит в состав природно-исторического парка «Москворецкий»</a:t>
            </a:r>
            <a:r>
              <a:rPr lang="ru-RU" sz="1600" i="0" dirty="0">
                <a:effectLst/>
                <a:latin typeface="Bahnschrift Light Condensed" panose="020B0502040204020203" pitchFamily="34" charset="0"/>
              </a:rPr>
              <a:t>. </a:t>
            </a:r>
            <a:endParaRPr lang="ru-RU" sz="1600" dirty="0">
              <a:latin typeface="Bahnschrift Ligh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85340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6" name="Picture 4" descr="Тайны мистического места: где находится Кунцевское городище | МОЙ РАЙON">
            <a:extLst>
              <a:ext uri="{FF2B5EF4-FFF2-40B4-BE49-F238E27FC236}">
                <a16:creationId xmlns:a16="http://schemas.microsoft.com/office/drawing/2014/main" id="{A1DC802E-9E57-A371-9464-2C2367C7597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111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ABDFCF-2BB8-1DB9-58A7-DC5B010518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18269B5-6E5B-97C0-2A90-AAE5003D95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BA5CA25-3F90-E834-09CC-229964BC61D1}"/>
              </a:ext>
            </a:extLst>
          </p:cNvPr>
          <p:cNvSpPr/>
          <p:nvPr/>
        </p:nvSpPr>
        <p:spPr>
          <a:xfrm>
            <a:off x="0" y="0"/>
            <a:ext cx="3528204" cy="6858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2951F83-5BBA-B185-9015-E54CDDBADB9B}"/>
              </a:ext>
            </a:extLst>
          </p:cNvPr>
          <p:cNvSpPr txBox="1"/>
          <p:nvPr/>
        </p:nvSpPr>
        <p:spPr>
          <a:xfrm>
            <a:off x="163902" y="181155"/>
            <a:ext cx="32435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latin typeface="Bahnschrift Condensed" panose="020B0502040204020203" pitchFamily="34" charset="0"/>
              </a:rPr>
              <a:t>Арбатско-Покровская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3933995-C519-F027-AE86-49FC265A73DB}"/>
              </a:ext>
            </a:extLst>
          </p:cNvPr>
          <p:cNvSpPr txBox="1"/>
          <p:nvPr/>
        </p:nvSpPr>
        <p:spPr>
          <a:xfrm>
            <a:off x="163902" y="511760"/>
            <a:ext cx="32435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Bahnschrift Condensed" panose="020B0502040204020203" pitchFamily="34" charset="0"/>
              </a:rPr>
              <a:t>ст. Кунцевская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EE2B454-7555-81CF-720C-682FA9CDFBA3}"/>
              </a:ext>
            </a:extLst>
          </p:cNvPr>
          <p:cNvSpPr txBox="1"/>
          <p:nvPr/>
        </p:nvSpPr>
        <p:spPr>
          <a:xfrm>
            <a:off x="163902" y="3090446"/>
            <a:ext cx="3243532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i="0" dirty="0">
                <a:solidFill>
                  <a:srgbClr val="0A0A0A"/>
                </a:solidFill>
                <a:effectLst/>
                <a:latin typeface="Bahnschrift Light Condensed" panose="020B0502040204020203" pitchFamily="34" charset="0"/>
              </a:rPr>
              <a:t>Кунцевское городище — </a:t>
            </a:r>
            <a:r>
              <a:rPr lang="ru-RU" sz="1600" dirty="0">
                <a:latin typeface="Bahnschrift Light Condensed" panose="020B0502040204020203" pitchFamily="34" charset="0"/>
              </a:rPr>
              <a:t>один из старейших археологических памятников Москвы, расположенный на высоком мысе на правом берегу Москвы-реки на территории </a:t>
            </a:r>
            <a:r>
              <a:rPr lang="ru-RU" sz="1600" dirty="0">
                <a:effectLst/>
                <a:latin typeface="Bahnschrift Light Condensed" panose="020B0502040204020203" pitchFamily="34" charset="0"/>
              </a:rPr>
              <a:t>Суворовского парка (часть парка «Фили»)</a:t>
            </a:r>
            <a:r>
              <a:rPr lang="ru-RU" sz="1600" i="0" dirty="0">
                <a:solidFill>
                  <a:srgbClr val="0A0A0A"/>
                </a:solidFill>
                <a:effectLst/>
                <a:latin typeface="Bahnschrift Light Condensed" panose="020B0502040204020203" pitchFamily="34" charset="0"/>
              </a:rPr>
              <a:t>. Это древнее укрепленное поселение, первые обитатели которого появились здесь еще в VI–V веках до нашей эры. </a:t>
            </a:r>
            <a:br>
              <a:rPr lang="ru-RU" sz="1600" dirty="0">
                <a:latin typeface="Bahnschrift Light Condensed" panose="020B0502040204020203" pitchFamily="34" charset="0"/>
              </a:rPr>
            </a:br>
            <a:endParaRPr lang="ru-RU" sz="1600" dirty="0">
              <a:latin typeface="Bahnschrift Ligh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99323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0" name="Picture 4" descr="Океания, торговый центр, Кутузовский просп., 57, Москва — Яндекс Карты">
            <a:extLst>
              <a:ext uri="{FF2B5EF4-FFF2-40B4-BE49-F238E27FC236}">
                <a16:creationId xmlns:a16="http://schemas.microsoft.com/office/drawing/2014/main" id="{7C16898A-7C4B-1456-37D0-DD885D5181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5533" y="0"/>
            <a:ext cx="1026646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ABDFCF-2BB8-1DB9-58A7-DC5B010518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18269B5-6E5B-97C0-2A90-AAE5003D95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BA5CA25-3F90-E834-09CC-229964BC61D1}"/>
              </a:ext>
            </a:extLst>
          </p:cNvPr>
          <p:cNvSpPr/>
          <p:nvPr/>
        </p:nvSpPr>
        <p:spPr>
          <a:xfrm>
            <a:off x="0" y="0"/>
            <a:ext cx="3528204" cy="6858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8B073C9-2456-D1BA-F1E9-EE03747E95D7}"/>
              </a:ext>
            </a:extLst>
          </p:cNvPr>
          <p:cNvSpPr txBox="1"/>
          <p:nvPr/>
        </p:nvSpPr>
        <p:spPr>
          <a:xfrm>
            <a:off x="163902" y="181155"/>
            <a:ext cx="32435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latin typeface="Bahnschrift Condensed" panose="020B0502040204020203" pitchFamily="34" charset="0"/>
              </a:rPr>
              <a:t>Арбатско-Покровская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7B9E991-1BE7-C7C3-4A8B-ACE239BD86F8}"/>
              </a:ext>
            </a:extLst>
          </p:cNvPr>
          <p:cNvSpPr txBox="1"/>
          <p:nvPr/>
        </p:nvSpPr>
        <p:spPr>
          <a:xfrm>
            <a:off x="163902" y="511760"/>
            <a:ext cx="32435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Bahnschrift Condensed" panose="020B0502040204020203" pitchFamily="34" charset="0"/>
              </a:rPr>
              <a:t>ст. Славянский бульвар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CF0A600-C2F8-8A70-BA34-4EF04ABD2D3A}"/>
              </a:ext>
            </a:extLst>
          </p:cNvPr>
          <p:cNvSpPr txBox="1"/>
          <p:nvPr/>
        </p:nvSpPr>
        <p:spPr>
          <a:xfrm>
            <a:off x="163902" y="3090446"/>
            <a:ext cx="3243532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i="0" dirty="0">
                <a:solidFill>
                  <a:srgbClr val="0A0A0A"/>
                </a:solidFill>
                <a:effectLst/>
                <a:latin typeface="Bahnschrift Light Condensed" panose="020B0502040204020203" pitchFamily="34" charset="0"/>
              </a:rPr>
              <a:t>ТРЦ «Океания» — это современный четырехэтажный торгово-развлекательный центр в Москве, расположенный на Кутузовском проспекте, 57, в шаговой доступности от станции метро «Славянский бульвар». Главной визитной карточкой комплекса является гигантский цилиндрический аквариум.</a:t>
            </a:r>
            <a:endParaRPr lang="ru-RU" sz="1600" dirty="0">
              <a:latin typeface="Bahnschrift Ligh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24821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Бункер Сталина» на «Ближней даче» в Кунцево (Волынском, Давыдково) —  Подземная Москва">
            <a:extLst>
              <a:ext uri="{FF2B5EF4-FFF2-40B4-BE49-F238E27FC236}">
                <a16:creationId xmlns:a16="http://schemas.microsoft.com/office/drawing/2014/main" id="{CE2D75D5-A9D3-2CF7-9445-9188417BBA8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8"/>
          <a:stretch/>
        </p:blipFill>
        <p:spPr bwMode="auto">
          <a:xfrm>
            <a:off x="0" y="26988"/>
            <a:ext cx="12192000" cy="68310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ABDFCF-2BB8-1DB9-58A7-DC5B010518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18269B5-6E5B-97C0-2A90-AAE5003D95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BA5CA25-3F90-E834-09CC-229964BC61D1}"/>
              </a:ext>
            </a:extLst>
          </p:cNvPr>
          <p:cNvSpPr/>
          <p:nvPr/>
        </p:nvSpPr>
        <p:spPr>
          <a:xfrm>
            <a:off x="0" y="0"/>
            <a:ext cx="3528204" cy="6858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6A5425-C495-865D-C3E4-8C40B0D052E4}"/>
              </a:ext>
            </a:extLst>
          </p:cNvPr>
          <p:cNvSpPr txBox="1"/>
          <p:nvPr/>
        </p:nvSpPr>
        <p:spPr>
          <a:xfrm>
            <a:off x="163902" y="181155"/>
            <a:ext cx="32435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latin typeface="Bahnschrift Condensed" panose="020B0502040204020203" pitchFamily="34" charset="0"/>
              </a:rPr>
              <a:t>Арбатско-Покровская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96605BB-A5DE-90B9-941F-BDCFE82D261E}"/>
              </a:ext>
            </a:extLst>
          </p:cNvPr>
          <p:cNvSpPr txBox="1"/>
          <p:nvPr/>
        </p:nvSpPr>
        <p:spPr>
          <a:xfrm>
            <a:off x="163902" y="511760"/>
            <a:ext cx="32435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Bahnschrift Condensed" panose="020B0502040204020203" pitchFamily="34" charset="0"/>
              </a:rPr>
              <a:t>ст. Славянский бульвар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C0D0DFC-3BCD-7B82-09EA-7B256D30E922}"/>
              </a:ext>
            </a:extLst>
          </p:cNvPr>
          <p:cNvSpPr txBox="1"/>
          <p:nvPr/>
        </p:nvSpPr>
        <p:spPr>
          <a:xfrm>
            <a:off x="163902" y="3090446"/>
            <a:ext cx="324353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i="0" dirty="0">
                <a:solidFill>
                  <a:srgbClr val="0A0A0A"/>
                </a:solidFill>
                <a:effectLst/>
                <a:latin typeface="Bahnschrift Light Condensed" panose="020B0502040204020203" pitchFamily="34" charset="0"/>
              </a:rPr>
              <a:t>Ближняя дача И.В. Сталина — это историческая резиденция Иосифа Виссарионовича Сталина, расположенная в Кунцево (ныне район Матвеевское, Западный административный округ Москвы), где он постоянно проживал в последние 20 лет своей жизни и где скончался 5 марта 1953 года. </a:t>
            </a:r>
            <a:br>
              <a:rPr lang="ru-RU" sz="1600" dirty="0">
                <a:latin typeface="Bahnschrift Light Condensed" panose="020B0502040204020203" pitchFamily="34" charset="0"/>
              </a:rPr>
            </a:br>
            <a:endParaRPr lang="ru-RU" sz="1600" dirty="0">
              <a:latin typeface="Bahnschrift Ligh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12359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Матвеевский лес, лесной массив, Москва, Матвеевский лес — Яндекс Карты">
            <a:extLst>
              <a:ext uri="{FF2B5EF4-FFF2-40B4-BE49-F238E27FC236}">
                <a16:creationId xmlns:a16="http://schemas.microsoft.com/office/drawing/2014/main" id="{8FFACBE6-BE05-D8B2-2D34-6F0CA2CB6A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0" y="1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ABDFCF-2BB8-1DB9-58A7-DC5B010518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18269B5-6E5B-97C0-2A90-AAE5003D95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BA5CA25-3F90-E834-09CC-229964BC61D1}"/>
              </a:ext>
            </a:extLst>
          </p:cNvPr>
          <p:cNvSpPr/>
          <p:nvPr/>
        </p:nvSpPr>
        <p:spPr>
          <a:xfrm>
            <a:off x="0" y="0"/>
            <a:ext cx="3528204" cy="6858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52A2CF9-AFBA-0355-B2EB-48AF782DAC48}"/>
              </a:ext>
            </a:extLst>
          </p:cNvPr>
          <p:cNvSpPr txBox="1"/>
          <p:nvPr/>
        </p:nvSpPr>
        <p:spPr>
          <a:xfrm>
            <a:off x="163902" y="181155"/>
            <a:ext cx="32435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latin typeface="Bahnschrift Condensed" panose="020B0502040204020203" pitchFamily="34" charset="0"/>
              </a:rPr>
              <a:t>Арбатско-Покровская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5A35F01-7EFA-86F5-54B9-2564A0C34DC8}"/>
              </a:ext>
            </a:extLst>
          </p:cNvPr>
          <p:cNvSpPr txBox="1"/>
          <p:nvPr/>
        </p:nvSpPr>
        <p:spPr>
          <a:xfrm>
            <a:off x="163902" y="511760"/>
            <a:ext cx="32435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Bahnschrift Condensed" panose="020B0502040204020203" pitchFamily="34" charset="0"/>
              </a:rPr>
              <a:t>ст. Славянский бульвар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C9514EE-B2E6-E2EE-401E-16EC12FFF14C}"/>
              </a:ext>
            </a:extLst>
          </p:cNvPr>
          <p:cNvSpPr txBox="1"/>
          <p:nvPr/>
        </p:nvSpPr>
        <p:spPr>
          <a:xfrm>
            <a:off x="163902" y="3090446"/>
            <a:ext cx="324353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0" i="0" dirty="0">
                <a:solidFill>
                  <a:srgbClr val="0A0A0A"/>
                </a:solidFill>
                <a:effectLst/>
                <a:latin typeface="Bahnschrift Light Condensed" panose="020B0502040204020203" pitchFamily="34" charset="0"/>
              </a:rPr>
              <a:t>Матвеевский лес (также известен как Волынский лес) — живописный лесной массив площадью около </a:t>
            </a:r>
          </a:p>
          <a:p>
            <a:r>
              <a:rPr lang="ru-RU" sz="1600" b="0" i="0" dirty="0">
                <a:solidFill>
                  <a:srgbClr val="0A0A0A"/>
                </a:solidFill>
                <a:effectLst/>
                <a:latin typeface="Bahnschrift Light Condensed" panose="020B0502040204020203" pitchFamily="34" charset="0"/>
              </a:rPr>
              <a:t> гектаров, расположенный в Западном административном округе Москвы. </a:t>
            </a:r>
          </a:p>
          <a:p>
            <a:r>
              <a:rPr lang="ru-RU" sz="1600" b="0" i="0" dirty="0">
                <a:solidFill>
                  <a:srgbClr val="0A0A0A"/>
                </a:solidFill>
                <a:effectLst/>
                <a:latin typeface="Bahnschrift Light Condensed" panose="020B0502040204020203" pitchFamily="34" charset="0"/>
              </a:rPr>
              <a:t>Это уникальный природный оазис внутри мегаполиса, являющийся частью природного заказника «Долина реки Сетунь». </a:t>
            </a:r>
            <a:endParaRPr lang="ru-RU" sz="1600" dirty="0">
              <a:latin typeface="Bahnschrift Ligh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97360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 descr="Центральный музей Великой Отечественной войны (Музей Победы на Поклонной  горе) - Каталог музеев и выставочных залов - Музеи - РЕВИЗОР.РУ">
            <a:extLst>
              <a:ext uri="{FF2B5EF4-FFF2-40B4-BE49-F238E27FC236}">
                <a16:creationId xmlns:a16="http://schemas.microsoft.com/office/drawing/2014/main" id="{39EE91ED-DF2A-CEFF-D518-CBBD24876A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7335" y="-1"/>
            <a:ext cx="10244665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ABDFCF-2BB8-1DB9-58A7-DC5B010518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18269B5-6E5B-97C0-2A90-AAE5003D95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BA5CA25-3F90-E834-09CC-229964BC61D1}"/>
              </a:ext>
            </a:extLst>
          </p:cNvPr>
          <p:cNvSpPr/>
          <p:nvPr/>
        </p:nvSpPr>
        <p:spPr>
          <a:xfrm>
            <a:off x="0" y="0"/>
            <a:ext cx="3528204" cy="6858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468740-20C8-2811-5A10-76844AE6F20A}"/>
              </a:ext>
            </a:extLst>
          </p:cNvPr>
          <p:cNvSpPr txBox="1"/>
          <p:nvPr/>
        </p:nvSpPr>
        <p:spPr>
          <a:xfrm>
            <a:off x="163902" y="181155"/>
            <a:ext cx="32435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latin typeface="Bahnschrift Condensed" panose="020B0502040204020203" pitchFamily="34" charset="0"/>
              </a:rPr>
              <a:t>Арбатско-Покровская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1BC30A0-2E77-68B5-1BEE-A35E149FC8FD}"/>
              </a:ext>
            </a:extLst>
          </p:cNvPr>
          <p:cNvSpPr txBox="1"/>
          <p:nvPr/>
        </p:nvSpPr>
        <p:spPr>
          <a:xfrm>
            <a:off x="163902" y="511760"/>
            <a:ext cx="32435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Bahnschrift Condensed" panose="020B0502040204020203" pitchFamily="34" charset="0"/>
              </a:rPr>
              <a:t>ст. Парк Победы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18E624E-DCFE-D536-FDB8-23DDB5D290FB}"/>
              </a:ext>
            </a:extLst>
          </p:cNvPr>
          <p:cNvSpPr txBox="1"/>
          <p:nvPr/>
        </p:nvSpPr>
        <p:spPr>
          <a:xfrm>
            <a:off x="163902" y="3090446"/>
            <a:ext cx="324353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i="0" dirty="0">
                <a:effectLst/>
                <a:latin typeface="Bahnschrift Light Condensed" panose="020B0502040204020203" pitchFamily="34" charset="0"/>
              </a:rPr>
              <a:t>Центральный музей Великой Отечественной войны (Музей Победы) — это </a:t>
            </a:r>
            <a:r>
              <a:rPr lang="ru-RU" sz="1600" dirty="0">
                <a:latin typeface="Bahnschrift Light Condensed" panose="020B0502040204020203" pitchFamily="34" charset="0"/>
              </a:rPr>
              <a:t>главный военно-исторический музей России, расположенный в Москве на </a:t>
            </a:r>
            <a:r>
              <a:rPr lang="ru-RU" sz="1600" dirty="0">
                <a:effectLst/>
                <a:latin typeface="Bahnschrift Light Condensed" panose="020B0502040204020203" pitchFamily="34" charset="0"/>
              </a:rPr>
              <a:t>Поклонной горе</a:t>
            </a:r>
            <a:r>
              <a:rPr lang="ru-RU" sz="1600" dirty="0">
                <a:latin typeface="Bahnschrift Light Condensed" panose="020B0502040204020203" pitchFamily="34" charset="0"/>
              </a:rPr>
              <a:t>. Он представляет собой один из крупнейших в мире мемориальных комплексов, хранящий память о подвиге советского народа в годы Второй мировой войны</a:t>
            </a:r>
            <a:r>
              <a:rPr lang="ru-RU" sz="1600" i="0" dirty="0">
                <a:effectLst/>
                <a:latin typeface="Bahnschrift Light Condensed" panose="020B0502040204020203" pitchFamily="34" charset="0"/>
              </a:rPr>
              <a:t>.</a:t>
            </a:r>
            <a:endParaRPr lang="ru-RU" sz="1600" dirty="0">
              <a:latin typeface="Bahnschrift Ligh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08566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40" name="Picture 4" descr="Площадь Победы (Москва) | это... Что такое Площадь Победы (Москва)?">
            <a:extLst>
              <a:ext uri="{FF2B5EF4-FFF2-40B4-BE49-F238E27FC236}">
                <a16:creationId xmlns:a16="http://schemas.microsoft.com/office/drawing/2014/main" id="{C290883C-B14E-212D-C4AF-B11CEA8D612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948"/>
          <a:stretch/>
        </p:blipFill>
        <p:spPr bwMode="auto">
          <a:xfrm>
            <a:off x="3528204" y="0"/>
            <a:ext cx="8663796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ABDFCF-2BB8-1DB9-58A7-DC5B010518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18269B5-6E5B-97C0-2A90-AAE5003D95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BA5CA25-3F90-E834-09CC-229964BC61D1}"/>
              </a:ext>
            </a:extLst>
          </p:cNvPr>
          <p:cNvSpPr/>
          <p:nvPr/>
        </p:nvSpPr>
        <p:spPr>
          <a:xfrm>
            <a:off x="0" y="0"/>
            <a:ext cx="3528204" cy="6858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B55FD9C-C0D5-2DC2-720D-18D6FA644B0A}"/>
              </a:ext>
            </a:extLst>
          </p:cNvPr>
          <p:cNvSpPr txBox="1"/>
          <p:nvPr/>
        </p:nvSpPr>
        <p:spPr>
          <a:xfrm>
            <a:off x="163902" y="181155"/>
            <a:ext cx="32435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latin typeface="Bahnschrift Condensed" panose="020B0502040204020203" pitchFamily="34" charset="0"/>
              </a:rPr>
              <a:t>Арбатско-Покровская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69188B9-2C0C-31AF-3571-4CF7638BDEB0}"/>
              </a:ext>
            </a:extLst>
          </p:cNvPr>
          <p:cNvSpPr txBox="1"/>
          <p:nvPr/>
        </p:nvSpPr>
        <p:spPr>
          <a:xfrm>
            <a:off x="163902" y="511760"/>
            <a:ext cx="32435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Bahnschrift Condensed" panose="020B0502040204020203" pitchFamily="34" charset="0"/>
              </a:rPr>
              <a:t>ст. Парк Победы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298DFD6-E522-8546-76E6-9A073F383E68}"/>
              </a:ext>
            </a:extLst>
          </p:cNvPr>
          <p:cNvSpPr txBox="1"/>
          <p:nvPr/>
        </p:nvSpPr>
        <p:spPr>
          <a:xfrm>
            <a:off x="163902" y="3090446"/>
            <a:ext cx="324353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i="0" dirty="0">
                <a:solidFill>
                  <a:srgbClr val="0A0A0A"/>
                </a:solidFill>
                <a:effectLst/>
                <a:latin typeface="Bahnschrift Light Condensed" panose="020B0502040204020203" pitchFamily="34" charset="0"/>
              </a:rPr>
              <a:t>Площадь Победы в районе Дорогомилово на Кутузовском проспекте, где расположены Триумфальная арка и Парк Победы (Поклонная гора). Рядом находится метро «Парк Победы».</a:t>
            </a:r>
            <a:endParaRPr lang="ru-RU" sz="1600" dirty="0">
              <a:latin typeface="Bahnschrift Ligh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80383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 descr="Входной билет в Музей Г.О.Р.А., Москва – купить билеты онлайн, цены, адрес,  часы работы, расписание и отзывы на RUSSPASS">
            <a:extLst>
              <a:ext uri="{FF2B5EF4-FFF2-40B4-BE49-F238E27FC236}">
                <a16:creationId xmlns:a16="http://schemas.microsoft.com/office/drawing/2014/main" id="{2DAA53C7-6C53-CDF1-DE06-FD0D2031A3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0"/>
            <a:ext cx="10287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ABDFCF-2BB8-1DB9-58A7-DC5B010518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18269B5-6E5B-97C0-2A90-AAE5003D95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BA5CA25-3F90-E834-09CC-229964BC61D1}"/>
              </a:ext>
            </a:extLst>
          </p:cNvPr>
          <p:cNvSpPr/>
          <p:nvPr/>
        </p:nvSpPr>
        <p:spPr>
          <a:xfrm>
            <a:off x="0" y="0"/>
            <a:ext cx="3528204" cy="6858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613EEB1-4889-6318-42E9-9A4D33A93D72}"/>
              </a:ext>
            </a:extLst>
          </p:cNvPr>
          <p:cNvSpPr txBox="1"/>
          <p:nvPr/>
        </p:nvSpPr>
        <p:spPr>
          <a:xfrm>
            <a:off x="163902" y="181155"/>
            <a:ext cx="32435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latin typeface="Bahnschrift Condensed" panose="020B0502040204020203" pitchFamily="34" charset="0"/>
              </a:rPr>
              <a:t>Арбатско-Покровская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5E97040-FBC8-D28C-67E4-129E08219208}"/>
              </a:ext>
            </a:extLst>
          </p:cNvPr>
          <p:cNvSpPr txBox="1"/>
          <p:nvPr/>
        </p:nvSpPr>
        <p:spPr>
          <a:xfrm>
            <a:off x="163902" y="511760"/>
            <a:ext cx="32435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Bahnschrift Condensed" panose="020B0502040204020203" pitchFamily="34" charset="0"/>
              </a:rPr>
              <a:t>ст. Парк Победы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8622619-6441-9804-47E9-BDB6DFA86EEE}"/>
              </a:ext>
            </a:extLst>
          </p:cNvPr>
          <p:cNvSpPr txBox="1"/>
          <p:nvPr/>
        </p:nvSpPr>
        <p:spPr>
          <a:xfrm>
            <a:off x="163902" y="3090446"/>
            <a:ext cx="324353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i="0" dirty="0">
                <a:solidFill>
                  <a:srgbClr val="0A0A0A"/>
                </a:solidFill>
                <a:effectLst/>
                <a:latin typeface="Bahnschrift Light Condensed" panose="020B0502040204020203" pitchFamily="34" charset="0"/>
              </a:rPr>
              <a:t>Знаменитый памятник Ф.М. Достоевскому находится в шаговой доступности от Манежной площади — прямо перед зданием Российской государственной библиотеки (РГБ).</a:t>
            </a:r>
            <a:endParaRPr lang="ru-RU" sz="1600" dirty="0">
              <a:latin typeface="Bahnschrift Ligh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24510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Фото Киевского вокзала">
            <a:extLst>
              <a:ext uri="{FF2B5EF4-FFF2-40B4-BE49-F238E27FC236}">
                <a16:creationId xmlns:a16="http://schemas.microsoft.com/office/drawing/2014/main" id="{C11DCD55-5C19-A84F-10E0-28B3F3296F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7637" y="0"/>
            <a:ext cx="1077436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ABDFCF-2BB8-1DB9-58A7-DC5B010518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18269B5-6E5B-97C0-2A90-AAE5003D95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BA5CA25-3F90-E834-09CC-229964BC61D1}"/>
              </a:ext>
            </a:extLst>
          </p:cNvPr>
          <p:cNvSpPr/>
          <p:nvPr/>
        </p:nvSpPr>
        <p:spPr>
          <a:xfrm>
            <a:off x="0" y="0"/>
            <a:ext cx="3528204" cy="6858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8D0C1D0-88EC-6FDD-E1D2-D1864522338B}"/>
              </a:ext>
            </a:extLst>
          </p:cNvPr>
          <p:cNvSpPr txBox="1"/>
          <p:nvPr/>
        </p:nvSpPr>
        <p:spPr>
          <a:xfrm>
            <a:off x="163902" y="181155"/>
            <a:ext cx="32435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latin typeface="Bahnschrift Condensed" panose="020B0502040204020203" pitchFamily="34" charset="0"/>
              </a:rPr>
              <a:t>Арбатско-Покровская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7C65096-5DE4-3D5A-C764-42C2BF6EEDB1}"/>
              </a:ext>
            </a:extLst>
          </p:cNvPr>
          <p:cNvSpPr txBox="1"/>
          <p:nvPr/>
        </p:nvSpPr>
        <p:spPr>
          <a:xfrm>
            <a:off x="163902" y="511760"/>
            <a:ext cx="32435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Bahnschrift Condensed" panose="020B0502040204020203" pitchFamily="34" charset="0"/>
              </a:rPr>
              <a:t>ст. Киевская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9830561-DE53-026B-4A3C-E7E76BC14994}"/>
              </a:ext>
            </a:extLst>
          </p:cNvPr>
          <p:cNvSpPr txBox="1"/>
          <p:nvPr/>
        </p:nvSpPr>
        <p:spPr>
          <a:xfrm>
            <a:off x="163902" y="3090446"/>
            <a:ext cx="324353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i="0" dirty="0">
                <a:solidFill>
                  <a:srgbClr val="0A0A0A"/>
                </a:solidFill>
                <a:effectLst/>
                <a:latin typeface="Bahnschrift Light Condensed" panose="020B0502040204020203" pitchFamily="34" charset="0"/>
              </a:rPr>
              <a:t>Киевский вокзал — </a:t>
            </a:r>
            <a:r>
              <a:rPr lang="ru-RU" sz="1600" dirty="0">
                <a:latin typeface="Bahnschrift Light Condensed" panose="020B0502040204020203" pitchFamily="34" charset="0"/>
              </a:rPr>
              <a:t>один из крупнейших железнодорожных узлов Москвы, расположенный по адресу: </a:t>
            </a:r>
            <a:r>
              <a:rPr lang="ru-RU" sz="1600" dirty="0">
                <a:effectLst/>
                <a:latin typeface="Bahnschrift Light Condensed" panose="020B0502040204020203" pitchFamily="34" charset="0"/>
              </a:rPr>
              <a:t>площадь Киевского Вокзала, дом 1</a:t>
            </a:r>
            <a:endParaRPr lang="ru-RU" sz="1600" dirty="0">
              <a:latin typeface="Bahnschrift Ligh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14771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Бородинский мост">
            <a:extLst>
              <a:ext uri="{FF2B5EF4-FFF2-40B4-BE49-F238E27FC236}">
                <a16:creationId xmlns:a16="http://schemas.microsoft.com/office/drawing/2014/main" id="{9A937852-844F-9300-56FB-A2AD680FBA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ABDFCF-2BB8-1DB9-58A7-DC5B010518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18269B5-6E5B-97C0-2A90-AAE5003D95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BA5CA25-3F90-E834-09CC-229964BC61D1}"/>
              </a:ext>
            </a:extLst>
          </p:cNvPr>
          <p:cNvSpPr/>
          <p:nvPr/>
        </p:nvSpPr>
        <p:spPr>
          <a:xfrm>
            <a:off x="0" y="0"/>
            <a:ext cx="3528204" cy="6858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17CE80-2A04-4475-7A73-D8FCFFF4784B}"/>
              </a:ext>
            </a:extLst>
          </p:cNvPr>
          <p:cNvSpPr txBox="1"/>
          <p:nvPr/>
        </p:nvSpPr>
        <p:spPr>
          <a:xfrm>
            <a:off x="163902" y="181155"/>
            <a:ext cx="32435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latin typeface="Bahnschrift Condensed" panose="020B0502040204020203" pitchFamily="34" charset="0"/>
              </a:rPr>
              <a:t>Арбатско-Покровская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AB29A51-5F26-9932-4829-1342A9C70924}"/>
              </a:ext>
            </a:extLst>
          </p:cNvPr>
          <p:cNvSpPr txBox="1"/>
          <p:nvPr/>
        </p:nvSpPr>
        <p:spPr>
          <a:xfrm>
            <a:off x="163902" y="511760"/>
            <a:ext cx="32435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Bahnschrift Condensed" panose="020B0502040204020203" pitchFamily="34" charset="0"/>
              </a:rPr>
              <a:t>ст. Киевская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C6D48C1-E898-D5C4-3BCC-ADC286912E77}"/>
              </a:ext>
            </a:extLst>
          </p:cNvPr>
          <p:cNvSpPr txBox="1"/>
          <p:nvPr/>
        </p:nvSpPr>
        <p:spPr>
          <a:xfrm>
            <a:off x="163902" y="3090446"/>
            <a:ext cx="324353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i="0" dirty="0">
                <a:solidFill>
                  <a:srgbClr val="0A0A0A"/>
                </a:solidFill>
                <a:effectLst/>
                <a:latin typeface="Bahnschrift Light Condensed" panose="020B0502040204020203" pitchFamily="34" charset="0"/>
              </a:rPr>
              <a:t>Бородинский мост — это </a:t>
            </a:r>
            <a:r>
              <a:rPr lang="ru-RU" sz="1600" dirty="0">
                <a:latin typeface="Bahnschrift Light Condensed" panose="020B0502040204020203" pitchFamily="34" charset="0"/>
              </a:rPr>
              <a:t>действующий стальной </a:t>
            </a:r>
            <a:r>
              <a:rPr lang="ru-RU" sz="1600" dirty="0" err="1">
                <a:latin typeface="Bahnschrift Light Condensed" panose="020B0502040204020203" pitchFamily="34" charset="0"/>
              </a:rPr>
              <a:t>трёхпролётный</a:t>
            </a:r>
            <a:r>
              <a:rPr lang="ru-RU" sz="1600" dirty="0">
                <a:latin typeface="Bahnschrift Light Condensed" panose="020B0502040204020203" pitchFamily="34" charset="0"/>
              </a:rPr>
              <a:t> автомобильно-пешеходный мост через Москву-реку в центре столицы</a:t>
            </a:r>
            <a:r>
              <a:rPr lang="ru-RU" sz="1600" i="0" dirty="0">
                <a:solidFill>
                  <a:srgbClr val="0A0A0A"/>
                </a:solidFill>
                <a:effectLst/>
                <a:latin typeface="Bahnschrift Light Condensed" panose="020B0502040204020203" pitchFamily="34" charset="0"/>
              </a:rPr>
              <a:t>. Он связывает Смоленскую улицу (и Садовое кольцо) с Большой Дорогомиловской улицей и площадью Киевского вокзала. </a:t>
            </a:r>
            <a:endParaRPr lang="ru-RU" sz="1600" dirty="0">
              <a:latin typeface="Bahnschrift Ligh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67685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>
            <a:extLst>
              <a:ext uri="{FF2B5EF4-FFF2-40B4-BE49-F238E27FC236}">
                <a16:creationId xmlns:a16="http://schemas.microsoft.com/office/drawing/2014/main" id="{33DF2F39-8DC2-03CE-7885-FA2845AF43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9823" y="-1"/>
            <a:ext cx="10282177" cy="68547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ABDFCF-2BB8-1DB9-58A7-DC5B010518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18269B5-6E5B-97C0-2A90-AAE5003D95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BA5CA25-3F90-E834-09CC-229964BC61D1}"/>
              </a:ext>
            </a:extLst>
          </p:cNvPr>
          <p:cNvSpPr/>
          <p:nvPr/>
        </p:nvSpPr>
        <p:spPr>
          <a:xfrm>
            <a:off x="0" y="0"/>
            <a:ext cx="3528204" cy="6858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83FB8A8-D648-DED9-7478-7F75490B2CD5}"/>
              </a:ext>
            </a:extLst>
          </p:cNvPr>
          <p:cNvSpPr txBox="1"/>
          <p:nvPr/>
        </p:nvSpPr>
        <p:spPr>
          <a:xfrm>
            <a:off x="163902" y="181155"/>
            <a:ext cx="32435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latin typeface="Bahnschrift Condensed" panose="020B0502040204020203" pitchFamily="34" charset="0"/>
              </a:rPr>
              <a:t>Арбатско-Покровская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2F65EF6-A2A6-1787-1C85-D875D0F63605}"/>
              </a:ext>
            </a:extLst>
          </p:cNvPr>
          <p:cNvSpPr txBox="1"/>
          <p:nvPr/>
        </p:nvSpPr>
        <p:spPr>
          <a:xfrm>
            <a:off x="163902" y="511760"/>
            <a:ext cx="32435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Bahnschrift Condensed" panose="020B0502040204020203" pitchFamily="34" charset="0"/>
              </a:rPr>
              <a:t>ст. Киевская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08F5532-B231-44C0-2C4B-4423F76903E0}"/>
              </a:ext>
            </a:extLst>
          </p:cNvPr>
          <p:cNvSpPr txBox="1"/>
          <p:nvPr/>
        </p:nvSpPr>
        <p:spPr>
          <a:xfrm>
            <a:off x="163902" y="3090446"/>
            <a:ext cx="324353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i="0" dirty="0">
                <a:solidFill>
                  <a:srgbClr val="0A0A0A"/>
                </a:solidFill>
                <a:effectLst/>
                <a:latin typeface="Bahnschrift Light Condensed" panose="020B0502040204020203" pitchFamily="34" charset="0"/>
              </a:rPr>
              <a:t>«Бестиарий» — это интерактивный музей криптозоологии, посвященный мифическим существам, фантастическим животным и легендам народов мира. На сегодняшний день проект работает в двух городах России: Москве и Санкт-Петербурге. </a:t>
            </a:r>
            <a:br>
              <a:rPr lang="ru-RU" sz="1600" dirty="0">
                <a:latin typeface="Bahnschrift Light Condensed" panose="020B0502040204020203" pitchFamily="34" charset="0"/>
              </a:rPr>
            </a:br>
            <a:endParaRPr lang="ru-RU" sz="1600" dirty="0">
              <a:latin typeface="Bahnschrift Ligh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50845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 descr="Смоленская набережная на реке Москве в Москве: где находится, на карте,  длина, интересные здания, как добраться, ближайшее метро, мосты, фото">
            <a:extLst>
              <a:ext uri="{FF2B5EF4-FFF2-40B4-BE49-F238E27FC236}">
                <a16:creationId xmlns:a16="http://schemas.microsoft.com/office/drawing/2014/main" id="{0FF3512C-21D8-3035-D4CB-2B18FA34038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216" t="2401" r="4964" b="6707"/>
          <a:stretch/>
        </p:blipFill>
        <p:spPr bwMode="auto">
          <a:xfrm>
            <a:off x="3528204" y="-1"/>
            <a:ext cx="8663796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ABDFCF-2BB8-1DB9-58A7-DC5B010518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18269B5-6E5B-97C0-2A90-AAE5003D95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BA5CA25-3F90-E834-09CC-229964BC61D1}"/>
              </a:ext>
            </a:extLst>
          </p:cNvPr>
          <p:cNvSpPr/>
          <p:nvPr/>
        </p:nvSpPr>
        <p:spPr>
          <a:xfrm>
            <a:off x="0" y="0"/>
            <a:ext cx="3528204" cy="6858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3245FC7-7390-50AD-C491-92CDFD261072}"/>
              </a:ext>
            </a:extLst>
          </p:cNvPr>
          <p:cNvSpPr txBox="1"/>
          <p:nvPr/>
        </p:nvSpPr>
        <p:spPr>
          <a:xfrm>
            <a:off x="163902" y="181155"/>
            <a:ext cx="32435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latin typeface="Bahnschrift Condensed" panose="020B0502040204020203" pitchFamily="34" charset="0"/>
              </a:rPr>
              <a:t>Арбатско-Покровская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9D40CB5-0992-436C-D030-E81BEA8FB950}"/>
              </a:ext>
            </a:extLst>
          </p:cNvPr>
          <p:cNvSpPr txBox="1"/>
          <p:nvPr/>
        </p:nvSpPr>
        <p:spPr>
          <a:xfrm>
            <a:off x="163902" y="511760"/>
            <a:ext cx="32435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Bahnschrift Condensed" panose="020B0502040204020203" pitchFamily="34" charset="0"/>
              </a:rPr>
              <a:t>ст. Смоленская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EE66C4F-F40C-E9A0-62B8-C69ADF16A864}"/>
              </a:ext>
            </a:extLst>
          </p:cNvPr>
          <p:cNvSpPr txBox="1"/>
          <p:nvPr/>
        </p:nvSpPr>
        <p:spPr>
          <a:xfrm>
            <a:off x="163902" y="3090446"/>
            <a:ext cx="3243532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0" i="0" dirty="0">
                <a:solidFill>
                  <a:srgbClr val="0A0A0A"/>
                </a:solidFill>
                <a:effectLst/>
                <a:latin typeface="Bahnschrift Light Condensed" panose="020B0502040204020203" pitchFamily="34" charset="0"/>
              </a:rPr>
              <a:t>Смоленская набережная — это </a:t>
            </a:r>
            <a:r>
              <a:rPr lang="ru-RU" sz="1600" dirty="0">
                <a:latin typeface="Bahnschrift Light Condensed" panose="020B0502040204020203" pitchFamily="34" charset="0"/>
              </a:rPr>
              <a:t>живописная набережная в центре Москвы на левом берегу Москвы-реки, расположенная в районе Арбат</a:t>
            </a:r>
            <a:r>
              <a:rPr lang="ru-RU" sz="1600" b="0" i="0" dirty="0">
                <a:solidFill>
                  <a:srgbClr val="0A0A0A"/>
                </a:solidFill>
                <a:effectLst/>
                <a:latin typeface="Bahnschrift Light Condensed" panose="020B0502040204020203" pitchFamily="34" charset="0"/>
              </a:rPr>
              <a:t>. Она является частью престижного Садового кольца и отличается сочетанием исторической архитектуры и прекрасными видами. </a:t>
            </a:r>
            <a:br>
              <a:rPr lang="ru-RU" sz="1600" dirty="0">
                <a:latin typeface="Bahnschrift Light Condensed" panose="020B0502040204020203" pitchFamily="34" charset="0"/>
              </a:rPr>
            </a:br>
            <a:endParaRPr lang="ru-RU" sz="1600" dirty="0">
              <a:latin typeface="Bahnschrift Ligh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45780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 descr="Как выглядит и реставрируется один из старейших деревянных домов Москвы -  moscowwalks.ru">
            <a:extLst>
              <a:ext uri="{FF2B5EF4-FFF2-40B4-BE49-F238E27FC236}">
                <a16:creationId xmlns:a16="http://schemas.microsoft.com/office/drawing/2014/main" id="{E95E7361-6352-B792-E93A-A6710A596A0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58" r="30327"/>
          <a:stretch/>
        </p:blipFill>
        <p:spPr bwMode="auto">
          <a:xfrm>
            <a:off x="3528204" y="0"/>
            <a:ext cx="8663796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ABDFCF-2BB8-1DB9-58A7-DC5B010518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18269B5-6E5B-97C0-2A90-AAE5003D95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BA5CA25-3F90-E834-09CC-229964BC61D1}"/>
              </a:ext>
            </a:extLst>
          </p:cNvPr>
          <p:cNvSpPr/>
          <p:nvPr/>
        </p:nvSpPr>
        <p:spPr>
          <a:xfrm>
            <a:off x="0" y="0"/>
            <a:ext cx="3528204" cy="6858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4D0938D-B1EA-C180-06BE-53BB71030BC7}"/>
              </a:ext>
            </a:extLst>
          </p:cNvPr>
          <p:cNvSpPr txBox="1"/>
          <p:nvPr/>
        </p:nvSpPr>
        <p:spPr>
          <a:xfrm>
            <a:off x="163902" y="181155"/>
            <a:ext cx="32435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latin typeface="Bahnschrift Condensed" panose="020B0502040204020203" pitchFamily="34" charset="0"/>
              </a:rPr>
              <a:t>Арбатско-Покровская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267FCFE-7516-561E-60B0-C25E78F93C8E}"/>
              </a:ext>
            </a:extLst>
          </p:cNvPr>
          <p:cNvSpPr txBox="1"/>
          <p:nvPr/>
        </p:nvSpPr>
        <p:spPr>
          <a:xfrm>
            <a:off x="163902" y="511760"/>
            <a:ext cx="32435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Bahnschrift Condensed" panose="020B0502040204020203" pitchFamily="34" charset="0"/>
              </a:rPr>
              <a:t>ст. Смоленская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619258A-0006-678F-C744-A58871CA052F}"/>
              </a:ext>
            </a:extLst>
          </p:cNvPr>
          <p:cNvSpPr txBox="1"/>
          <p:nvPr/>
        </p:nvSpPr>
        <p:spPr>
          <a:xfrm>
            <a:off x="163902" y="3090446"/>
            <a:ext cx="324353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i="0" dirty="0">
                <a:solidFill>
                  <a:srgbClr val="0A0A0A"/>
                </a:solidFill>
                <a:effectLst/>
                <a:latin typeface="Bahnschrift Light Condensed" panose="020B0502040204020203" pitchFamily="34" charset="0"/>
              </a:rPr>
              <a:t>Дом </a:t>
            </a:r>
            <a:r>
              <a:rPr lang="ru-RU" sz="1600" i="0" dirty="0" err="1">
                <a:solidFill>
                  <a:srgbClr val="0A0A0A"/>
                </a:solidFill>
                <a:effectLst/>
                <a:latin typeface="Bahnschrift Light Condensed" panose="020B0502040204020203" pitchFamily="34" charset="0"/>
              </a:rPr>
              <a:t>Палибина</a:t>
            </a:r>
            <a:r>
              <a:rPr lang="ru-RU" sz="1600" i="0" dirty="0">
                <a:solidFill>
                  <a:srgbClr val="0A0A0A"/>
                </a:solidFill>
                <a:effectLst/>
                <a:latin typeface="Bahnschrift Light Condensed" panose="020B0502040204020203" pitchFamily="34" charset="0"/>
              </a:rPr>
              <a:t> — это </a:t>
            </a:r>
            <a:r>
              <a:rPr lang="ru-RU" sz="1600" dirty="0">
                <a:latin typeface="Bahnschrift Light Condensed" panose="020B0502040204020203" pitchFamily="34" charset="0"/>
              </a:rPr>
              <a:t>уникальный одноэтажный деревянный особняк в Москве, один из самых старых деревянных домов столицы, сохранившихся после пожара 1812 года</a:t>
            </a:r>
            <a:r>
              <a:rPr lang="ru-RU" sz="1600" i="0" dirty="0">
                <a:solidFill>
                  <a:srgbClr val="0A0A0A"/>
                </a:solidFill>
                <a:effectLst/>
                <a:latin typeface="Bahnschrift Light Condensed" panose="020B0502040204020203" pitchFamily="34" charset="0"/>
              </a:rPr>
              <a:t>.</a:t>
            </a:r>
            <a:endParaRPr lang="ru-RU" sz="1600" dirty="0">
              <a:latin typeface="Bahnschrift Ligh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90943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2" descr="Детский музыкальный театр имени Н.И. Сац">
            <a:extLst>
              <a:ext uri="{FF2B5EF4-FFF2-40B4-BE49-F238E27FC236}">
                <a16:creationId xmlns:a16="http://schemas.microsoft.com/office/drawing/2014/main" id="{D49953D8-76C5-08B2-8D2A-4E56307474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9600" y="0"/>
            <a:ext cx="103124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ABDFCF-2BB8-1DB9-58A7-DC5B010518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18269B5-6E5B-97C0-2A90-AAE5003D95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BA5CA25-3F90-E834-09CC-229964BC61D1}"/>
              </a:ext>
            </a:extLst>
          </p:cNvPr>
          <p:cNvSpPr/>
          <p:nvPr/>
        </p:nvSpPr>
        <p:spPr>
          <a:xfrm>
            <a:off x="0" y="0"/>
            <a:ext cx="3528204" cy="6858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7EBBB52-143B-D0E7-5312-72A0CCA4104C}"/>
              </a:ext>
            </a:extLst>
          </p:cNvPr>
          <p:cNvSpPr txBox="1"/>
          <p:nvPr/>
        </p:nvSpPr>
        <p:spPr>
          <a:xfrm>
            <a:off x="163902" y="181155"/>
            <a:ext cx="32435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latin typeface="Bahnschrift Condensed" panose="020B0502040204020203" pitchFamily="34" charset="0"/>
              </a:rPr>
              <a:t>Арбатско-Покровская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33B0664-D7D4-50B2-53C5-738848D6D7C5}"/>
              </a:ext>
            </a:extLst>
          </p:cNvPr>
          <p:cNvSpPr txBox="1"/>
          <p:nvPr/>
        </p:nvSpPr>
        <p:spPr>
          <a:xfrm>
            <a:off x="163902" y="511760"/>
            <a:ext cx="32435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Bahnschrift Condensed" panose="020B0502040204020203" pitchFamily="34" charset="0"/>
              </a:rPr>
              <a:t>ст. Смоленская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500CD2-1EA4-E96B-2951-AF75FE1657C8}"/>
              </a:ext>
            </a:extLst>
          </p:cNvPr>
          <p:cNvSpPr txBox="1"/>
          <p:nvPr/>
        </p:nvSpPr>
        <p:spPr>
          <a:xfrm>
            <a:off x="163902" y="3090446"/>
            <a:ext cx="324353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i="0" dirty="0">
                <a:solidFill>
                  <a:srgbClr val="0A0A0A"/>
                </a:solidFill>
                <a:effectLst/>
                <a:latin typeface="Bahnschrift Light Condensed" panose="020B0502040204020203" pitchFamily="34" charset="0"/>
              </a:rPr>
              <a:t>Московский государственный академический детский музыкальный театр имени Наталии Сац — это </a:t>
            </a:r>
            <a:r>
              <a:rPr lang="ru-RU" sz="1600" dirty="0">
                <a:effectLst/>
                <a:latin typeface="Bahnschrift Light Condensed" panose="020B0502040204020203" pitchFamily="34" charset="0"/>
              </a:rPr>
              <a:t>первый в мире</a:t>
            </a:r>
            <a:r>
              <a:rPr lang="ru-RU" sz="1600" dirty="0">
                <a:latin typeface="Bahnschrift Light Condensed" panose="020B0502040204020203" pitchFamily="34" charset="0"/>
              </a:rPr>
              <a:t> профессиональный стационарный театр оперы, балета и симфонической музыки для детей и юношества</a:t>
            </a:r>
            <a:r>
              <a:rPr lang="ru-RU" sz="1600" i="0" dirty="0">
                <a:solidFill>
                  <a:srgbClr val="0A0A0A"/>
                </a:solidFill>
                <a:effectLst/>
                <a:latin typeface="Bahnschrift Light Condensed" panose="020B0502040204020203" pitchFamily="34" charset="0"/>
              </a:rPr>
              <a:t>. Он был основан в 1965 году выдающимся театральным деятелем Наталией Ильиничной Сац.</a:t>
            </a:r>
            <a:endParaRPr lang="ru-RU" sz="1600" dirty="0">
              <a:latin typeface="Bahnschrift Ligh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94409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 descr="Фотография">
            <a:extLst>
              <a:ext uri="{FF2B5EF4-FFF2-40B4-BE49-F238E27FC236}">
                <a16:creationId xmlns:a16="http://schemas.microsoft.com/office/drawing/2014/main" id="{AA2954F9-61FB-72AF-8EC2-56792E6A8F6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253"/>
          <a:stretch/>
        </p:blipFill>
        <p:spPr bwMode="auto">
          <a:xfrm>
            <a:off x="3528204" y="0"/>
            <a:ext cx="8663796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ABDFCF-2BB8-1DB9-58A7-DC5B010518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18269B5-6E5B-97C0-2A90-AAE5003D95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BA5CA25-3F90-E834-09CC-229964BC61D1}"/>
              </a:ext>
            </a:extLst>
          </p:cNvPr>
          <p:cNvSpPr/>
          <p:nvPr/>
        </p:nvSpPr>
        <p:spPr>
          <a:xfrm>
            <a:off x="0" y="0"/>
            <a:ext cx="3528204" cy="6858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1E07D07-AABF-D630-F963-077D4E0E10E5}"/>
              </a:ext>
            </a:extLst>
          </p:cNvPr>
          <p:cNvSpPr txBox="1"/>
          <p:nvPr/>
        </p:nvSpPr>
        <p:spPr>
          <a:xfrm>
            <a:off x="163902" y="181155"/>
            <a:ext cx="32435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latin typeface="Bahnschrift Condensed" panose="020B0502040204020203" pitchFamily="34" charset="0"/>
              </a:rPr>
              <a:t>Арбатско-Покровская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C8D66A8-6596-37F2-1E6A-D722F3AF4F50}"/>
              </a:ext>
            </a:extLst>
          </p:cNvPr>
          <p:cNvSpPr txBox="1"/>
          <p:nvPr/>
        </p:nvSpPr>
        <p:spPr>
          <a:xfrm>
            <a:off x="163902" y="511760"/>
            <a:ext cx="32435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Bahnschrift Condensed" panose="020B0502040204020203" pitchFamily="34" charset="0"/>
              </a:rPr>
              <a:t>ст. Арбатская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24E4FB6-EED6-04F9-333E-AECB44D04DE4}"/>
              </a:ext>
            </a:extLst>
          </p:cNvPr>
          <p:cNvSpPr txBox="1"/>
          <p:nvPr/>
        </p:nvSpPr>
        <p:spPr>
          <a:xfrm>
            <a:off x="163902" y="3090446"/>
            <a:ext cx="324353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i="0" dirty="0">
                <a:solidFill>
                  <a:srgbClr val="0A0A0A"/>
                </a:solidFill>
                <a:effectLst/>
                <a:latin typeface="Bahnschrift Light Condensed" panose="020B0502040204020203" pitchFamily="34" charset="0"/>
              </a:rPr>
              <a:t>Российская государственная библиотека (РГБ), известная также как «Ленинка», </a:t>
            </a:r>
            <a:r>
              <a:rPr lang="ru-RU" sz="1600" dirty="0">
                <a:latin typeface="Bahnschrift Light Condensed" panose="020B0502040204020203" pitchFamily="34" charset="0"/>
              </a:rPr>
              <a:t>является </a:t>
            </a:r>
            <a:r>
              <a:rPr lang="ru-RU" sz="1600" dirty="0">
                <a:effectLst/>
                <a:latin typeface="Bahnschrift Light Condensed" panose="020B0502040204020203" pitchFamily="34" charset="0"/>
              </a:rPr>
              <a:t>крупнейшей публичной библиотекой в России и Европе</a:t>
            </a:r>
            <a:r>
              <a:rPr lang="ru-RU" sz="1600" dirty="0">
                <a:latin typeface="Bahnschrift Light Condensed" panose="020B0502040204020203" pitchFamily="34" charset="0"/>
              </a:rPr>
              <a:t>, а также второй по величине в мире</a:t>
            </a:r>
            <a:r>
              <a:rPr lang="ru-RU" sz="1600" i="0" dirty="0">
                <a:solidFill>
                  <a:srgbClr val="0A0A0A"/>
                </a:solidFill>
                <a:effectLst/>
                <a:latin typeface="Bahnschrift Light Condensed" panose="020B0502040204020203" pitchFamily="34" charset="0"/>
              </a:rPr>
              <a:t>. Главный корпус расположен в самом центре Москвы.</a:t>
            </a:r>
            <a:endParaRPr lang="ru-RU" sz="1600" dirty="0">
              <a:latin typeface="Bahnschrift Ligh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43958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4">
            <a:extLst>
              <a:ext uri="{FF2B5EF4-FFF2-40B4-BE49-F238E27FC236}">
                <a16:creationId xmlns:a16="http://schemas.microsoft.com/office/drawing/2014/main" id="{33DE0758-BA16-0D73-5AA7-A098530B6D0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810"/>
          <a:stretch/>
        </p:blipFill>
        <p:spPr bwMode="auto">
          <a:xfrm>
            <a:off x="3528204" y="-1"/>
            <a:ext cx="8663796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ABDFCF-2BB8-1DB9-58A7-DC5B010518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18269B5-6E5B-97C0-2A90-AAE5003D95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BA5CA25-3F90-E834-09CC-229964BC61D1}"/>
              </a:ext>
            </a:extLst>
          </p:cNvPr>
          <p:cNvSpPr/>
          <p:nvPr/>
        </p:nvSpPr>
        <p:spPr>
          <a:xfrm>
            <a:off x="0" y="0"/>
            <a:ext cx="3528204" cy="6858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E51841D-32C3-08CE-3DC9-21859BCE5407}"/>
              </a:ext>
            </a:extLst>
          </p:cNvPr>
          <p:cNvSpPr txBox="1"/>
          <p:nvPr/>
        </p:nvSpPr>
        <p:spPr>
          <a:xfrm>
            <a:off x="163902" y="181155"/>
            <a:ext cx="32435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latin typeface="Bahnschrift Condensed" panose="020B0502040204020203" pitchFamily="34" charset="0"/>
              </a:rPr>
              <a:t>Арбатско-Покровская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C130B29-C186-C9F5-A4A9-9F77535F690E}"/>
              </a:ext>
            </a:extLst>
          </p:cNvPr>
          <p:cNvSpPr txBox="1"/>
          <p:nvPr/>
        </p:nvSpPr>
        <p:spPr>
          <a:xfrm>
            <a:off x="163902" y="511760"/>
            <a:ext cx="32435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Bahnschrift Condensed" panose="020B0502040204020203" pitchFamily="34" charset="0"/>
              </a:rPr>
              <a:t>ст. Арбатская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FA9DC3F-0F47-5CB5-C158-AD661BAA45B9}"/>
              </a:ext>
            </a:extLst>
          </p:cNvPr>
          <p:cNvSpPr txBox="1"/>
          <p:nvPr/>
        </p:nvSpPr>
        <p:spPr>
          <a:xfrm>
            <a:off x="163902" y="3090446"/>
            <a:ext cx="324353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i="0" dirty="0">
                <a:solidFill>
                  <a:srgbClr val="0A0A0A"/>
                </a:solidFill>
                <a:effectLst/>
                <a:latin typeface="Bahnschrift Light Condensed" panose="020B0502040204020203" pitchFamily="34" charset="0"/>
              </a:rPr>
              <a:t>Манежная площадь — </a:t>
            </a:r>
            <a:r>
              <a:rPr lang="ru-RU" sz="1600" dirty="0">
                <a:latin typeface="Bahnschrift Light Condensed" panose="020B0502040204020203" pitchFamily="34" charset="0"/>
              </a:rPr>
              <a:t>одна из крупнейших и самых известных площадей в самом </a:t>
            </a:r>
            <a:r>
              <a:rPr lang="ru-RU" sz="1600" dirty="0">
                <a:effectLst/>
                <a:latin typeface="Bahnschrift Light Condensed" panose="020B0502040204020203" pitchFamily="34" charset="0"/>
              </a:rPr>
              <a:t>центре Москвы</a:t>
            </a:r>
            <a:r>
              <a:rPr lang="ru-RU" sz="1600" dirty="0">
                <a:latin typeface="Bahnschrift Light Condensed" panose="020B0502040204020203" pitchFamily="34" charset="0"/>
              </a:rPr>
              <a:t>, расположенная рядом с Кремлем, Александровским садом и Красной площадью</a:t>
            </a:r>
            <a:r>
              <a:rPr lang="ru-RU" sz="1600" i="0" dirty="0">
                <a:solidFill>
                  <a:srgbClr val="0A0A0A"/>
                </a:solidFill>
                <a:effectLst/>
                <a:latin typeface="Bahnschrift Light Condensed" panose="020B0502040204020203" pitchFamily="34" charset="0"/>
              </a:rPr>
              <a:t>. Это пешеходное пространство, крупный туристический узел и популярное место проведения городских фестивалей.</a:t>
            </a:r>
            <a:endParaRPr lang="ru-RU" sz="1600" dirty="0">
              <a:latin typeface="Bahnschrift Ligh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16658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 descr="Памятник Фёдору Достоевскому, 2009 год">
            <a:extLst>
              <a:ext uri="{FF2B5EF4-FFF2-40B4-BE49-F238E27FC236}">
                <a16:creationId xmlns:a16="http://schemas.microsoft.com/office/drawing/2014/main" id="{8741CB1A-D96A-D4C8-1F18-7E943C7A904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7228"/>
          <a:stretch/>
        </p:blipFill>
        <p:spPr bwMode="auto">
          <a:xfrm>
            <a:off x="3528204" y="0"/>
            <a:ext cx="8663796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ABDFCF-2BB8-1DB9-58A7-DC5B010518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18269B5-6E5B-97C0-2A90-AAE5003D95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BA5CA25-3F90-E834-09CC-229964BC61D1}"/>
              </a:ext>
            </a:extLst>
          </p:cNvPr>
          <p:cNvSpPr/>
          <p:nvPr/>
        </p:nvSpPr>
        <p:spPr>
          <a:xfrm>
            <a:off x="0" y="0"/>
            <a:ext cx="3528204" cy="6858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E3B06F-DC49-FD24-4CEA-018543F84BD8}"/>
              </a:ext>
            </a:extLst>
          </p:cNvPr>
          <p:cNvSpPr txBox="1"/>
          <p:nvPr/>
        </p:nvSpPr>
        <p:spPr>
          <a:xfrm>
            <a:off x="163902" y="181155"/>
            <a:ext cx="32435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latin typeface="Bahnschrift Condensed" panose="020B0502040204020203" pitchFamily="34" charset="0"/>
              </a:rPr>
              <a:t>Арбатско-Покровская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9E64857-2EA2-6298-6C01-D474464E1483}"/>
              </a:ext>
            </a:extLst>
          </p:cNvPr>
          <p:cNvSpPr txBox="1"/>
          <p:nvPr/>
        </p:nvSpPr>
        <p:spPr>
          <a:xfrm>
            <a:off x="163902" y="511760"/>
            <a:ext cx="32435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Bahnschrift Condensed" panose="020B0502040204020203" pitchFamily="34" charset="0"/>
              </a:rPr>
              <a:t>ст. Арбатская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2013E84-66A7-E064-2D2C-677A108495F7}"/>
              </a:ext>
            </a:extLst>
          </p:cNvPr>
          <p:cNvSpPr txBox="1"/>
          <p:nvPr/>
        </p:nvSpPr>
        <p:spPr>
          <a:xfrm>
            <a:off x="163902" y="3090446"/>
            <a:ext cx="324353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i="0" dirty="0">
                <a:solidFill>
                  <a:srgbClr val="0A0A0A"/>
                </a:solidFill>
                <a:effectLst/>
                <a:latin typeface="Bahnschrift Light Condensed" panose="020B0502040204020203" pitchFamily="34" charset="0"/>
              </a:rPr>
              <a:t>Знаменитый памятник Ф.М. Достоевскому находится в шаговой доступности от Манежной площади — прямо перед зданием Российской государственной библиотеки (РГБ).</a:t>
            </a:r>
            <a:endParaRPr lang="ru-RU" sz="1600" dirty="0">
              <a:latin typeface="Bahnschrift Ligh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34498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 descr="Красная площадь: описание, адрес, время и режим работы 2026 | Sputnik8">
            <a:extLst>
              <a:ext uri="{FF2B5EF4-FFF2-40B4-BE49-F238E27FC236}">
                <a16:creationId xmlns:a16="http://schemas.microsoft.com/office/drawing/2014/main" id="{79692D0F-06E8-5754-F4CB-BC6F54AED91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6"/>
          <a:stretch/>
        </p:blipFill>
        <p:spPr bwMode="auto">
          <a:xfrm>
            <a:off x="1909482" y="0"/>
            <a:ext cx="10282518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ABDFCF-2BB8-1DB9-58A7-DC5B010518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18269B5-6E5B-97C0-2A90-AAE5003D95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BA5CA25-3F90-E834-09CC-229964BC61D1}"/>
              </a:ext>
            </a:extLst>
          </p:cNvPr>
          <p:cNvSpPr/>
          <p:nvPr/>
        </p:nvSpPr>
        <p:spPr>
          <a:xfrm>
            <a:off x="0" y="0"/>
            <a:ext cx="3528204" cy="6858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32E527F-4A31-101A-3350-340163E8C524}"/>
              </a:ext>
            </a:extLst>
          </p:cNvPr>
          <p:cNvSpPr txBox="1"/>
          <p:nvPr/>
        </p:nvSpPr>
        <p:spPr>
          <a:xfrm>
            <a:off x="163902" y="181155"/>
            <a:ext cx="32435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latin typeface="Bahnschrift Condensed" panose="020B0502040204020203" pitchFamily="34" charset="0"/>
              </a:rPr>
              <a:t>Арбатско-Покровская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9EE657F-8CB2-8745-7EC9-A2665B5D9F1B}"/>
              </a:ext>
            </a:extLst>
          </p:cNvPr>
          <p:cNvSpPr txBox="1"/>
          <p:nvPr/>
        </p:nvSpPr>
        <p:spPr>
          <a:xfrm>
            <a:off x="163902" y="511760"/>
            <a:ext cx="32435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Bahnschrift Condensed" panose="020B0502040204020203" pitchFamily="34" charset="0"/>
              </a:rPr>
              <a:t>ст. Площадь Революции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1096211-3BC9-9FFE-62AE-78BEFABAD2C5}"/>
              </a:ext>
            </a:extLst>
          </p:cNvPr>
          <p:cNvSpPr txBox="1"/>
          <p:nvPr/>
        </p:nvSpPr>
        <p:spPr>
          <a:xfrm>
            <a:off x="163902" y="3090446"/>
            <a:ext cx="324353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i="0" dirty="0">
                <a:solidFill>
                  <a:srgbClr val="0A0A0A"/>
                </a:solidFill>
                <a:effectLst/>
                <a:latin typeface="Bahnschrift Light Condensed" panose="020B0502040204020203" pitchFamily="34" charset="0"/>
              </a:rPr>
              <a:t>Красная площадь — </a:t>
            </a:r>
            <a:r>
              <a:rPr lang="ru-RU" sz="1600" dirty="0">
                <a:latin typeface="Bahnschrift Light Condensed" panose="020B0502040204020203" pitchFamily="34" charset="0"/>
              </a:rPr>
              <a:t>главная и самая известная площадь Москвы и России, расположенная в самом центре столицы у восточной стены Кремля</a:t>
            </a:r>
            <a:r>
              <a:rPr lang="ru-RU" sz="1600" i="0" dirty="0">
                <a:solidFill>
                  <a:srgbClr val="0A0A0A"/>
                </a:solidFill>
                <a:effectLst/>
                <a:latin typeface="Bahnschrift Light Condensed" panose="020B0502040204020203" pitchFamily="34" charset="0"/>
              </a:rPr>
              <a:t>. Она является символом страны и объектом всемирного наследия ЮНЕСКО.</a:t>
            </a:r>
            <a:endParaRPr lang="ru-RU" sz="1600" dirty="0">
              <a:latin typeface="Bahnschrift Ligh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87864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 descr="Александровский сад (Москва) — Википедия">
            <a:extLst>
              <a:ext uri="{FF2B5EF4-FFF2-40B4-BE49-F238E27FC236}">
                <a16:creationId xmlns:a16="http://schemas.microsoft.com/office/drawing/2014/main" id="{FB453312-426D-1932-5203-E2899257B8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ABDFCF-2BB8-1DB9-58A7-DC5B010518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18269B5-6E5B-97C0-2A90-AAE5003D95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BA5CA25-3F90-E834-09CC-229964BC61D1}"/>
              </a:ext>
            </a:extLst>
          </p:cNvPr>
          <p:cNvSpPr/>
          <p:nvPr/>
        </p:nvSpPr>
        <p:spPr>
          <a:xfrm>
            <a:off x="0" y="0"/>
            <a:ext cx="3528204" cy="6858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D0EA37-F7A3-9B46-8E15-AA3F12D8365F}"/>
              </a:ext>
            </a:extLst>
          </p:cNvPr>
          <p:cNvSpPr txBox="1"/>
          <p:nvPr/>
        </p:nvSpPr>
        <p:spPr>
          <a:xfrm>
            <a:off x="163902" y="181155"/>
            <a:ext cx="32435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latin typeface="Bahnschrift Condensed" panose="020B0502040204020203" pitchFamily="34" charset="0"/>
              </a:rPr>
              <a:t>Арбатско-Покровская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FF0C60F-8B2C-C5B4-A474-5E76C295764C}"/>
              </a:ext>
            </a:extLst>
          </p:cNvPr>
          <p:cNvSpPr txBox="1"/>
          <p:nvPr/>
        </p:nvSpPr>
        <p:spPr>
          <a:xfrm>
            <a:off x="163902" y="511760"/>
            <a:ext cx="32435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Bahnschrift Condensed" panose="020B0502040204020203" pitchFamily="34" charset="0"/>
              </a:rPr>
              <a:t>ст. Площадь Революции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527A51C-D2EC-E061-70A9-2A650E4F100E}"/>
              </a:ext>
            </a:extLst>
          </p:cNvPr>
          <p:cNvSpPr txBox="1"/>
          <p:nvPr/>
        </p:nvSpPr>
        <p:spPr>
          <a:xfrm>
            <a:off x="163902" y="3090446"/>
            <a:ext cx="324353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i="0" dirty="0">
                <a:solidFill>
                  <a:srgbClr val="0A0A0A"/>
                </a:solidFill>
                <a:effectLst/>
                <a:latin typeface="Bahnschrift Light Condensed" panose="020B0502040204020203" pitchFamily="34" charset="0"/>
              </a:rPr>
              <a:t>Александровский сад — это </a:t>
            </a:r>
            <a:r>
              <a:rPr lang="ru-RU" sz="1600" dirty="0">
                <a:latin typeface="Bahnschrift Light Condensed" panose="020B0502040204020203" pitchFamily="34" charset="0"/>
              </a:rPr>
              <a:t>знаменитый исторический парк в самом центре Москвы, расположенный у западной стены Кремля</a:t>
            </a:r>
            <a:r>
              <a:rPr lang="ru-RU" sz="1600" i="0" dirty="0">
                <a:solidFill>
                  <a:srgbClr val="0A0A0A"/>
                </a:solidFill>
                <a:effectLst/>
                <a:latin typeface="Bahnschrift Light Condensed" panose="020B0502040204020203" pitchFamily="34" charset="0"/>
              </a:rPr>
              <a:t>. Он был основан в 1812 году по указу императора Александра I в рамках восстановления города после пожара времен войны с Наполеоном.</a:t>
            </a:r>
            <a:endParaRPr lang="ru-RU" sz="1600" dirty="0">
              <a:latin typeface="Bahnschrift Ligh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228127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 descr="Исторический музей на Красной Площади">
            <a:extLst>
              <a:ext uri="{FF2B5EF4-FFF2-40B4-BE49-F238E27FC236}">
                <a16:creationId xmlns:a16="http://schemas.microsoft.com/office/drawing/2014/main" id="{8FCC9CCF-EE74-5DD6-2764-CF2400D9AE3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6" b="-1"/>
          <a:stretch/>
        </p:blipFill>
        <p:spPr bwMode="auto">
          <a:xfrm>
            <a:off x="1620860" y="0"/>
            <a:ext cx="1057114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ABDFCF-2BB8-1DB9-58A7-DC5B010518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18269B5-6E5B-97C0-2A90-AAE5003D95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BA5CA25-3F90-E834-09CC-229964BC61D1}"/>
              </a:ext>
            </a:extLst>
          </p:cNvPr>
          <p:cNvSpPr/>
          <p:nvPr/>
        </p:nvSpPr>
        <p:spPr>
          <a:xfrm>
            <a:off x="0" y="0"/>
            <a:ext cx="3528204" cy="6858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1459DA-E3A7-33B5-2CCF-5C8C7E086F32}"/>
              </a:ext>
            </a:extLst>
          </p:cNvPr>
          <p:cNvSpPr txBox="1"/>
          <p:nvPr/>
        </p:nvSpPr>
        <p:spPr>
          <a:xfrm>
            <a:off x="163902" y="181155"/>
            <a:ext cx="32435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latin typeface="Bahnschrift Condensed" panose="020B0502040204020203" pitchFamily="34" charset="0"/>
              </a:rPr>
              <a:t>Арбатско-Покровская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A98A230-0A14-D3BF-B116-F80DA4B3F96B}"/>
              </a:ext>
            </a:extLst>
          </p:cNvPr>
          <p:cNvSpPr txBox="1"/>
          <p:nvPr/>
        </p:nvSpPr>
        <p:spPr>
          <a:xfrm>
            <a:off x="163902" y="511760"/>
            <a:ext cx="32435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Bahnschrift Condensed" panose="020B0502040204020203" pitchFamily="34" charset="0"/>
              </a:rPr>
              <a:t>ст. Площадь Революции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55D3F72-25CE-C435-75CF-DA1AB66F5BD4}"/>
              </a:ext>
            </a:extLst>
          </p:cNvPr>
          <p:cNvSpPr txBox="1"/>
          <p:nvPr/>
        </p:nvSpPr>
        <p:spPr>
          <a:xfrm>
            <a:off x="163902" y="3090446"/>
            <a:ext cx="324353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i="0" dirty="0">
                <a:solidFill>
                  <a:srgbClr val="0A0A0A"/>
                </a:solidFill>
                <a:effectLst/>
                <a:latin typeface="Bahnschrift Light Condensed" panose="020B0502040204020203" pitchFamily="34" charset="0"/>
              </a:rPr>
              <a:t>Государственный Исторический музей (ГИМ) в Москве — это </a:t>
            </a:r>
            <a:r>
              <a:rPr lang="ru-RU" sz="1600" dirty="0">
                <a:latin typeface="Bahnschrift Light Condensed" panose="020B0502040204020203" pitchFamily="34" charset="0"/>
              </a:rPr>
              <a:t>крупнейший национальный исторический музей России</a:t>
            </a:r>
            <a:r>
              <a:rPr lang="ru-RU" sz="1600" i="0" dirty="0">
                <a:solidFill>
                  <a:srgbClr val="0A0A0A"/>
                </a:solidFill>
                <a:effectLst/>
                <a:latin typeface="Bahnschrift Light Condensed" panose="020B0502040204020203" pitchFamily="34" charset="0"/>
              </a:rPr>
              <a:t>. Монументальное здание в </a:t>
            </a:r>
            <a:r>
              <a:rPr lang="ru-RU" sz="1600" i="0" dirty="0" err="1">
                <a:solidFill>
                  <a:srgbClr val="0A0A0A"/>
                </a:solidFill>
                <a:effectLst/>
                <a:latin typeface="Bahnschrift Light Condensed" panose="020B0502040204020203" pitchFamily="34" charset="0"/>
              </a:rPr>
              <a:t>неорусском</a:t>
            </a:r>
            <a:r>
              <a:rPr lang="ru-RU" sz="1600" i="0" dirty="0">
                <a:solidFill>
                  <a:srgbClr val="0A0A0A"/>
                </a:solidFill>
                <a:effectLst/>
                <a:latin typeface="Bahnschrift Light Condensed" panose="020B0502040204020203" pitchFamily="34" charset="0"/>
              </a:rPr>
              <a:t> стиле расположено в самом сердце столицы, по адресу: Красная площадь, дом 1. В его фондах хранится более 5 миллионов экспонатов.</a:t>
            </a:r>
            <a:br>
              <a:rPr lang="ru-RU" sz="1600" dirty="0">
                <a:latin typeface="Bahnschrift Light Condensed" panose="020B0502040204020203" pitchFamily="34" charset="0"/>
              </a:rPr>
            </a:br>
            <a:endParaRPr lang="ru-RU" sz="1600" dirty="0">
              <a:latin typeface="Bahnschrift Ligh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755218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 descr="Центр современного искусства Винзавод, выставочный центр, 4-й  Сыромятнический пер., 1/8с21, Москва — Яндекс Карты">
            <a:extLst>
              <a:ext uri="{FF2B5EF4-FFF2-40B4-BE49-F238E27FC236}">
                <a16:creationId xmlns:a16="http://schemas.microsoft.com/office/drawing/2014/main" id="{83ED8662-2930-95E5-4F06-1457BAD86D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6706" y="0"/>
            <a:ext cx="10085294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ABDFCF-2BB8-1DB9-58A7-DC5B010518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18269B5-6E5B-97C0-2A90-AAE5003D95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BA5CA25-3F90-E834-09CC-229964BC61D1}"/>
              </a:ext>
            </a:extLst>
          </p:cNvPr>
          <p:cNvSpPr/>
          <p:nvPr/>
        </p:nvSpPr>
        <p:spPr>
          <a:xfrm>
            <a:off x="0" y="0"/>
            <a:ext cx="3528204" cy="6858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B4153F1-A45F-96F3-241D-01C635D50053}"/>
              </a:ext>
            </a:extLst>
          </p:cNvPr>
          <p:cNvSpPr txBox="1"/>
          <p:nvPr/>
        </p:nvSpPr>
        <p:spPr>
          <a:xfrm>
            <a:off x="163902" y="181155"/>
            <a:ext cx="32435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latin typeface="Bahnschrift Condensed" panose="020B0502040204020203" pitchFamily="34" charset="0"/>
              </a:rPr>
              <a:t>Арбатско-Покровская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E22A405-BCA6-E7DB-A6E8-D94C7A34868E}"/>
              </a:ext>
            </a:extLst>
          </p:cNvPr>
          <p:cNvSpPr txBox="1"/>
          <p:nvPr/>
        </p:nvSpPr>
        <p:spPr>
          <a:xfrm>
            <a:off x="163902" y="511760"/>
            <a:ext cx="32435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Bahnschrift Condensed" panose="020B0502040204020203" pitchFamily="34" charset="0"/>
              </a:rPr>
              <a:t>ст. Курская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2B926F7-E1AF-5C17-6ABD-4CDEE2E5889F}"/>
              </a:ext>
            </a:extLst>
          </p:cNvPr>
          <p:cNvSpPr txBox="1"/>
          <p:nvPr/>
        </p:nvSpPr>
        <p:spPr>
          <a:xfrm>
            <a:off x="163902" y="3090446"/>
            <a:ext cx="324353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i="0" dirty="0">
                <a:solidFill>
                  <a:srgbClr val="0A0A0A"/>
                </a:solidFill>
                <a:effectLst/>
                <a:latin typeface="Bahnschrift Light Condensed" panose="020B0502040204020203" pitchFamily="34" charset="0"/>
              </a:rPr>
              <a:t>Центр современного искусства «Винзавод» — это </a:t>
            </a:r>
            <a:r>
              <a:rPr lang="ru-RU" sz="1600" dirty="0">
                <a:latin typeface="Bahnschrift Light Condensed" panose="020B0502040204020203" pitchFamily="34" charset="0"/>
              </a:rPr>
              <a:t>первый и один из самых крупных частных арт-кластеров в России, расположенный на территории бывшего пивоваренного завода и винного комбината «Бавария» в Москве</a:t>
            </a:r>
            <a:r>
              <a:rPr lang="ru-RU" sz="1600" i="0" dirty="0">
                <a:solidFill>
                  <a:srgbClr val="0A0A0A"/>
                </a:solidFill>
                <a:effectLst/>
                <a:latin typeface="Bahnschrift Light Condensed" panose="020B0502040204020203" pitchFamily="34" charset="0"/>
              </a:rPr>
              <a:t>. </a:t>
            </a:r>
            <a:br>
              <a:rPr lang="ru-RU" sz="1600" dirty="0">
                <a:latin typeface="Bahnschrift Light Condensed" panose="020B0502040204020203" pitchFamily="34" charset="0"/>
              </a:rPr>
            </a:br>
            <a:endParaRPr lang="ru-RU" sz="1600" dirty="0">
              <a:latin typeface="Bahnschrift Ligh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650602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Усадьба Муравьевых-Апостолов">
            <a:extLst>
              <a:ext uri="{FF2B5EF4-FFF2-40B4-BE49-F238E27FC236}">
                <a16:creationId xmlns:a16="http://schemas.microsoft.com/office/drawing/2014/main" id="{756BC603-1432-7799-C31D-0E2C037416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ABDFCF-2BB8-1DB9-58A7-DC5B010518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18269B5-6E5B-97C0-2A90-AAE5003D95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BA5CA25-3F90-E834-09CC-229964BC61D1}"/>
              </a:ext>
            </a:extLst>
          </p:cNvPr>
          <p:cNvSpPr/>
          <p:nvPr/>
        </p:nvSpPr>
        <p:spPr>
          <a:xfrm>
            <a:off x="0" y="0"/>
            <a:ext cx="3528204" cy="6858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4059E3-88FA-95AC-BFA3-0128FAFA3C29}"/>
              </a:ext>
            </a:extLst>
          </p:cNvPr>
          <p:cNvSpPr txBox="1"/>
          <p:nvPr/>
        </p:nvSpPr>
        <p:spPr>
          <a:xfrm>
            <a:off x="163902" y="181155"/>
            <a:ext cx="32435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latin typeface="Bahnschrift Condensed" panose="020B0502040204020203" pitchFamily="34" charset="0"/>
              </a:rPr>
              <a:t>Арбатско-Покровская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046434F-3B79-A416-E3FF-6E0247FD0477}"/>
              </a:ext>
            </a:extLst>
          </p:cNvPr>
          <p:cNvSpPr txBox="1"/>
          <p:nvPr/>
        </p:nvSpPr>
        <p:spPr>
          <a:xfrm>
            <a:off x="163902" y="511760"/>
            <a:ext cx="32435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Bahnschrift Condensed" panose="020B0502040204020203" pitchFamily="34" charset="0"/>
              </a:rPr>
              <a:t>ст. Курская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46A6E07-246B-800A-D7E0-A4C747930BC5}"/>
              </a:ext>
            </a:extLst>
          </p:cNvPr>
          <p:cNvSpPr txBox="1"/>
          <p:nvPr/>
        </p:nvSpPr>
        <p:spPr>
          <a:xfrm>
            <a:off x="163902" y="3090446"/>
            <a:ext cx="3243532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i="0" dirty="0">
                <a:solidFill>
                  <a:srgbClr val="0A0A0A"/>
                </a:solidFill>
                <a:effectLst/>
                <a:latin typeface="Bahnschrift Light Condensed" panose="020B0502040204020203" pitchFamily="34" charset="0"/>
              </a:rPr>
              <a:t>Усадьба Муравьёвых-Апостолов — это </a:t>
            </a:r>
            <a:r>
              <a:rPr lang="ru-RU" sz="1600" dirty="0">
                <a:latin typeface="Bahnschrift Light Condensed" panose="020B0502040204020203" pitchFamily="34" charset="0"/>
              </a:rPr>
              <a:t>уникальный памятник московского классицизма начала XIX века, расположенный в Москве по адресу </a:t>
            </a:r>
            <a:r>
              <a:rPr lang="ru-RU" sz="1600" dirty="0">
                <a:effectLst/>
                <a:latin typeface="Bahnschrift Light Condensed" panose="020B0502040204020203" pitchFamily="34" charset="0"/>
              </a:rPr>
              <a:t>улица Старая Басманная, дом 23/9, строение 1</a:t>
            </a:r>
            <a:r>
              <a:rPr lang="ru-RU" sz="1600" i="0" dirty="0">
                <a:solidFill>
                  <a:srgbClr val="0A0A0A"/>
                </a:solidFill>
                <a:effectLst/>
                <a:latin typeface="Bahnschrift Light Condensed" panose="020B0502040204020203" pitchFamily="34" charset="0"/>
              </a:rPr>
              <a:t>. Сегодня в стенах бережно восстановленного деревянного особняка на каменном цоколе работает частный музей.</a:t>
            </a:r>
            <a:endParaRPr lang="ru-RU" sz="1600" dirty="0">
              <a:latin typeface="Bahnschrift Ligh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484123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 descr="Больше не работает: Гоголь-центр, театр, Москва, улица Казакова, 8 — Яндекс  Карты">
            <a:extLst>
              <a:ext uri="{FF2B5EF4-FFF2-40B4-BE49-F238E27FC236}">
                <a16:creationId xmlns:a16="http://schemas.microsoft.com/office/drawing/2014/main" id="{6DAA7279-8FDF-D6F4-89C1-41F6B02BB22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95" r="17600"/>
          <a:stretch/>
        </p:blipFill>
        <p:spPr bwMode="auto">
          <a:xfrm>
            <a:off x="671804" y="0"/>
            <a:ext cx="11520196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ABDFCF-2BB8-1DB9-58A7-DC5B010518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18269B5-6E5B-97C0-2A90-AAE5003D95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BA5CA25-3F90-E834-09CC-229964BC61D1}"/>
              </a:ext>
            </a:extLst>
          </p:cNvPr>
          <p:cNvSpPr/>
          <p:nvPr/>
        </p:nvSpPr>
        <p:spPr>
          <a:xfrm>
            <a:off x="0" y="0"/>
            <a:ext cx="3528204" cy="6858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93A26B-460C-F77D-375C-3D4CDC7CD5DD}"/>
              </a:ext>
            </a:extLst>
          </p:cNvPr>
          <p:cNvSpPr txBox="1"/>
          <p:nvPr/>
        </p:nvSpPr>
        <p:spPr>
          <a:xfrm>
            <a:off x="163902" y="181155"/>
            <a:ext cx="32435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latin typeface="Bahnschrift Condensed" panose="020B0502040204020203" pitchFamily="34" charset="0"/>
              </a:rPr>
              <a:t>Арбатско-Покровская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7C055D6-FDE1-C995-9F6B-5D9E89798A1D}"/>
              </a:ext>
            </a:extLst>
          </p:cNvPr>
          <p:cNvSpPr txBox="1"/>
          <p:nvPr/>
        </p:nvSpPr>
        <p:spPr>
          <a:xfrm>
            <a:off x="163902" y="511760"/>
            <a:ext cx="32435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Bahnschrift Condensed" panose="020B0502040204020203" pitchFamily="34" charset="0"/>
              </a:rPr>
              <a:t>ст. Курская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A196B79-2903-E106-33AC-007952F71930}"/>
              </a:ext>
            </a:extLst>
          </p:cNvPr>
          <p:cNvSpPr txBox="1"/>
          <p:nvPr/>
        </p:nvSpPr>
        <p:spPr>
          <a:xfrm>
            <a:off x="163902" y="3090446"/>
            <a:ext cx="324353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effectLst/>
                <a:latin typeface="Bahnschrift Light Condensed" panose="020B0502040204020203" pitchFamily="34" charset="0"/>
              </a:rPr>
              <a:t>Московский театр «Гоголь-центр» официально закрыт с июля 2022 года</a:t>
            </a:r>
            <a:r>
              <a:rPr lang="ru-RU" sz="1600" i="0" dirty="0">
                <a:solidFill>
                  <a:srgbClr val="0A0A0A"/>
                </a:solidFill>
                <a:effectLst/>
                <a:latin typeface="Bahnschrift Light Condensed" panose="020B0502040204020203" pitchFamily="34" charset="0"/>
              </a:rPr>
              <a:t>, а самой площадке возвращено историческое название — Московский драматический театр имени Н. В. Гоголя. </a:t>
            </a:r>
            <a:br>
              <a:rPr lang="ru-RU" sz="1600" dirty="0">
                <a:latin typeface="Bahnschrift Light Condensed" panose="020B0502040204020203" pitchFamily="34" charset="0"/>
              </a:rPr>
            </a:br>
            <a:endParaRPr lang="ru-RU" sz="1600" dirty="0">
              <a:latin typeface="Bahnschrift Ligh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893235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Picture 2" descr="Дом-музей В.Л. Пушкина">
            <a:extLst>
              <a:ext uri="{FF2B5EF4-FFF2-40B4-BE49-F238E27FC236}">
                <a16:creationId xmlns:a16="http://schemas.microsoft.com/office/drawing/2014/main" id="{E181A09F-D174-CA0E-4C2F-F8D33B1E059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650"/>
          <a:stretch/>
        </p:blipFill>
        <p:spPr bwMode="auto">
          <a:xfrm>
            <a:off x="3528204" y="0"/>
            <a:ext cx="8663796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ABDFCF-2BB8-1DB9-58A7-DC5B010518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18269B5-6E5B-97C0-2A90-AAE5003D95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BA5CA25-3F90-E834-09CC-229964BC61D1}"/>
              </a:ext>
            </a:extLst>
          </p:cNvPr>
          <p:cNvSpPr/>
          <p:nvPr/>
        </p:nvSpPr>
        <p:spPr>
          <a:xfrm>
            <a:off x="0" y="0"/>
            <a:ext cx="3528204" cy="6858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86FEB8-D621-494B-CD9F-96B5DF47BA9E}"/>
              </a:ext>
            </a:extLst>
          </p:cNvPr>
          <p:cNvSpPr txBox="1"/>
          <p:nvPr/>
        </p:nvSpPr>
        <p:spPr>
          <a:xfrm>
            <a:off x="163902" y="181155"/>
            <a:ext cx="32435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latin typeface="Bahnschrift Condensed" panose="020B0502040204020203" pitchFamily="34" charset="0"/>
              </a:rPr>
              <a:t>Арбатско-Покровская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21EAD3C-CDF1-34DC-97FA-259F8C49C0B6}"/>
              </a:ext>
            </a:extLst>
          </p:cNvPr>
          <p:cNvSpPr txBox="1"/>
          <p:nvPr/>
        </p:nvSpPr>
        <p:spPr>
          <a:xfrm>
            <a:off x="163902" y="511760"/>
            <a:ext cx="32435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Bahnschrift Condensed" panose="020B0502040204020203" pitchFamily="34" charset="0"/>
              </a:rPr>
              <a:t>ст. Бауманская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9E6A15C-79D8-9A34-88CB-D5C1594D3594}"/>
              </a:ext>
            </a:extLst>
          </p:cNvPr>
          <p:cNvSpPr txBox="1"/>
          <p:nvPr/>
        </p:nvSpPr>
        <p:spPr>
          <a:xfrm>
            <a:off x="163902" y="3090446"/>
            <a:ext cx="3243532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i="0" dirty="0">
                <a:effectLst/>
                <a:latin typeface="Bahnschrift Light Condensed" panose="020B0502040204020203" pitchFamily="34" charset="0"/>
              </a:rPr>
              <a:t>Дом-музей Василия Львовича Пушкина — это </a:t>
            </a:r>
            <a:r>
              <a:rPr lang="ru-RU" sz="1600" dirty="0">
                <a:latin typeface="Bahnschrift Light Condensed" panose="020B0502040204020203" pitchFamily="34" charset="0"/>
              </a:rPr>
              <a:t>уникальный филиал </a:t>
            </a:r>
            <a:r>
              <a:rPr lang="ru-RU" sz="1600" dirty="0">
                <a:effectLst/>
                <a:latin typeface="Bahnschrift Light Condensed" panose="020B0502040204020203" pitchFamily="34" charset="0"/>
              </a:rPr>
              <a:t>Государственного музея А. С. Пушкина</a:t>
            </a:r>
            <a:r>
              <a:rPr lang="ru-RU" sz="1600" dirty="0">
                <a:latin typeface="Bahnschrift Light Condensed" panose="020B0502040204020203" pitchFamily="34" charset="0"/>
              </a:rPr>
              <a:t>, расположенный в историческом деревянном особняке на </a:t>
            </a:r>
            <a:r>
              <a:rPr lang="ru-RU" sz="1600" dirty="0">
                <a:effectLst/>
                <a:latin typeface="Bahnschrift Light Condensed" panose="020B0502040204020203" pitchFamily="34" charset="0"/>
              </a:rPr>
              <a:t>Старой Басманной улице, дом 36</a:t>
            </a:r>
            <a:r>
              <a:rPr lang="ru-RU" sz="1600" dirty="0">
                <a:latin typeface="Bahnschrift Light Condensed" panose="020B0502040204020203" pitchFamily="34" charset="0"/>
              </a:rPr>
              <a:t> в Москве. Особняк представляет собой редкий образец уцелевшей деревянной застройки Москвы после пожара 1812 года.</a:t>
            </a:r>
          </a:p>
        </p:txBody>
      </p:sp>
    </p:spTree>
    <p:extLst>
      <p:ext uri="{BB962C8B-B14F-4D97-AF65-F5344CB8AC3E}">
        <p14:creationId xmlns:p14="http://schemas.microsoft.com/office/powerpoint/2010/main" val="332064570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2" descr="Музей-дворец Волковых-Юсуповых">
            <a:extLst>
              <a:ext uri="{FF2B5EF4-FFF2-40B4-BE49-F238E27FC236}">
                <a16:creationId xmlns:a16="http://schemas.microsoft.com/office/drawing/2014/main" id="{003B5364-9311-AC10-907A-65C76C1912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8613" y="0"/>
            <a:ext cx="932338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ABDFCF-2BB8-1DB9-58A7-DC5B010518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18269B5-6E5B-97C0-2A90-AAE5003D95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BA5CA25-3F90-E834-09CC-229964BC61D1}"/>
              </a:ext>
            </a:extLst>
          </p:cNvPr>
          <p:cNvSpPr/>
          <p:nvPr/>
        </p:nvSpPr>
        <p:spPr>
          <a:xfrm>
            <a:off x="0" y="0"/>
            <a:ext cx="3528204" cy="6858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649555-8423-A60D-C7B6-D414FB374536}"/>
              </a:ext>
            </a:extLst>
          </p:cNvPr>
          <p:cNvSpPr txBox="1"/>
          <p:nvPr/>
        </p:nvSpPr>
        <p:spPr>
          <a:xfrm>
            <a:off x="163902" y="181155"/>
            <a:ext cx="32435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latin typeface="Bahnschrift Condensed" panose="020B0502040204020203" pitchFamily="34" charset="0"/>
              </a:rPr>
              <a:t>Арбатско-Покровская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C1DA4A3-FDF2-2A67-39A6-3DB01CFAB1CD}"/>
              </a:ext>
            </a:extLst>
          </p:cNvPr>
          <p:cNvSpPr txBox="1"/>
          <p:nvPr/>
        </p:nvSpPr>
        <p:spPr>
          <a:xfrm>
            <a:off x="163902" y="511760"/>
            <a:ext cx="32435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Bahnschrift Condensed" panose="020B0502040204020203" pitchFamily="34" charset="0"/>
              </a:rPr>
              <a:t>ст. Бауманская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DC00F1F-17D2-CACE-FCF6-7D1A974FEF6F}"/>
              </a:ext>
            </a:extLst>
          </p:cNvPr>
          <p:cNvSpPr txBox="1"/>
          <p:nvPr/>
        </p:nvSpPr>
        <p:spPr>
          <a:xfrm>
            <a:off x="163902" y="3090446"/>
            <a:ext cx="3243532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i="0" dirty="0">
                <a:solidFill>
                  <a:srgbClr val="0A0A0A"/>
                </a:solidFill>
                <a:effectLst/>
                <a:latin typeface="Bahnschrift Light Condensed" panose="020B0502040204020203" pitchFamily="34" charset="0"/>
              </a:rPr>
              <a:t>Дворец (палаты) Волковых-Юсуповых — это </a:t>
            </a:r>
            <a:r>
              <a:rPr lang="ru-RU" sz="1600" dirty="0">
                <a:latin typeface="Bahnschrift Light Condensed" panose="020B0502040204020203" pitchFamily="34" charset="0"/>
              </a:rPr>
              <a:t>один из старейших памятников жилой архитектуры Москвы, расположенный по адресу </a:t>
            </a:r>
            <a:r>
              <a:rPr lang="ru-RU" sz="1600" dirty="0">
                <a:effectLst/>
                <a:latin typeface="Bahnschrift Light Condensed" panose="020B0502040204020203" pitchFamily="34" charset="0"/>
              </a:rPr>
              <a:t>Большой Харитоньевский переулок, дом 21, строение 4</a:t>
            </a:r>
            <a:r>
              <a:rPr lang="ru-RU" sz="1600" i="0" dirty="0">
                <a:solidFill>
                  <a:srgbClr val="0A0A0A"/>
                </a:solidFill>
                <a:effectLst/>
                <a:latin typeface="Bahnschrift Light Condensed" panose="020B0502040204020203" pitchFamily="34" charset="0"/>
              </a:rPr>
              <a:t> (недалеко от станций метро «Красные Ворота» и «Чистые пруды»). Здание знаменито своим нарядным красно-белым фасадом в русском.</a:t>
            </a:r>
            <a:endParaRPr lang="ru-RU" sz="1600" dirty="0">
              <a:latin typeface="Bahnschrift Ligh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910723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8" name="Picture 4">
            <a:extLst>
              <a:ext uri="{FF2B5EF4-FFF2-40B4-BE49-F238E27FC236}">
                <a16:creationId xmlns:a16="http://schemas.microsoft.com/office/drawing/2014/main" id="{08AB60EA-88DD-3173-CB87-276A3C4E943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142"/>
          <a:stretch/>
        </p:blipFill>
        <p:spPr bwMode="auto">
          <a:xfrm>
            <a:off x="3528205" y="0"/>
            <a:ext cx="8663796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ABDFCF-2BB8-1DB9-58A7-DC5B010518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18269B5-6E5B-97C0-2A90-AAE5003D95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BA5CA25-3F90-E834-09CC-229964BC61D1}"/>
              </a:ext>
            </a:extLst>
          </p:cNvPr>
          <p:cNvSpPr/>
          <p:nvPr/>
        </p:nvSpPr>
        <p:spPr>
          <a:xfrm>
            <a:off x="0" y="0"/>
            <a:ext cx="3528204" cy="6858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BB8B720-671E-4B8D-ED0D-86382CE567AA}"/>
              </a:ext>
            </a:extLst>
          </p:cNvPr>
          <p:cNvSpPr txBox="1"/>
          <p:nvPr/>
        </p:nvSpPr>
        <p:spPr>
          <a:xfrm>
            <a:off x="163902" y="181155"/>
            <a:ext cx="32435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latin typeface="Bahnschrift Condensed" panose="020B0502040204020203" pitchFamily="34" charset="0"/>
              </a:rPr>
              <a:t>Арбатско-Покровская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AE344C9-1A73-C707-C1A6-293008A12DFD}"/>
              </a:ext>
            </a:extLst>
          </p:cNvPr>
          <p:cNvSpPr txBox="1"/>
          <p:nvPr/>
        </p:nvSpPr>
        <p:spPr>
          <a:xfrm>
            <a:off x="163902" y="511760"/>
            <a:ext cx="32435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Bahnschrift Condensed" panose="020B0502040204020203" pitchFamily="34" charset="0"/>
              </a:rPr>
              <a:t>ст. Бауманская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E780005-FBBA-3AA2-D52D-80C9A5C6872A}"/>
              </a:ext>
            </a:extLst>
          </p:cNvPr>
          <p:cNvSpPr txBox="1"/>
          <p:nvPr/>
        </p:nvSpPr>
        <p:spPr>
          <a:xfrm>
            <a:off x="163902" y="3090446"/>
            <a:ext cx="324353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i="0" dirty="0">
                <a:solidFill>
                  <a:srgbClr val="0A0A0A"/>
                </a:solidFill>
                <a:effectLst/>
                <a:latin typeface="Bahnschrift Light Condensed" panose="020B0502040204020203" pitchFamily="34" charset="0"/>
              </a:rPr>
              <a:t>Богоявленский кафедральный собор в Елохове (Елоховский собор) — это </a:t>
            </a:r>
            <a:r>
              <a:rPr lang="ru-RU" sz="1600" dirty="0">
                <a:latin typeface="Bahnschrift Light Condensed" panose="020B0502040204020203" pitchFamily="34" charset="0"/>
              </a:rPr>
              <a:t>один из самых известных и исторически значимых православных храмов Москвы, расположенный в Басманном районе</a:t>
            </a:r>
            <a:r>
              <a:rPr lang="ru-RU" sz="1600" i="0" dirty="0">
                <a:solidFill>
                  <a:srgbClr val="0A0A0A"/>
                </a:solidFill>
                <a:effectLst/>
                <a:latin typeface="Bahnschrift Light Condensed" panose="020B0502040204020203" pitchFamily="34" charset="0"/>
              </a:rPr>
              <a:t>. С 1938 по 1991 год он являлся главным (Патриаршим) собором Русской православной церкви, став настоящим символом православия в СССР.</a:t>
            </a:r>
            <a:endParaRPr lang="ru-RU" sz="1600" dirty="0">
              <a:latin typeface="Bahnschrift Ligh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704069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Вот такой пешеходный мост через Яузу открыли между Рубцовской и Семеновской  набережными - Москвич Mag">
            <a:extLst>
              <a:ext uri="{FF2B5EF4-FFF2-40B4-BE49-F238E27FC236}">
                <a16:creationId xmlns:a16="http://schemas.microsoft.com/office/drawing/2014/main" id="{5932489B-5651-6768-7BBD-60AEADF835A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682"/>
          <a:stretch/>
        </p:blipFill>
        <p:spPr bwMode="auto">
          <a:xfrm>
            <a:off x="3528204" y="0"/>
            <a:ext cx="8663796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ABDFCF-2BB8-1DB9-58A7-DC5B010518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18269B5-6E5B-97C0-2A90-AAE5003D95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BA5CA25-3F90-E834-09CC-229964BC61D1}"/>
              </a:ext>
            </a:extLst>
          </p:cNvPr>
          <p:cNvSpPr/>
          <p:nvPr/>
        </p:nvSpPr>
        <p:spPr>
          <a:xfrm>
            <a:off x="0" y="0"/>
            <a:ext cx="3528204" cy="6858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B5949F0-312C-95FA-EBB2-F3726EB7A91F}"/>
              </a:ext>
            </a:extLst>
          </p:cNvPr>
          <p:cNvSpPr txBox="1"/>
          <p:nvPr/>
        </p:nvSpPr>
        <p:spPr>
          <a:xfrm>
            <a:off x="163902" y="181155"/>
            <a:ext cx="32435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latin typeface="Bahnschrift Condensed" panose="020B0502040204020203" pitchFamily="34" charset="0"/>
              </a:rPr>
              <a:t>Арбатско-Покровская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FA71A49-FF5F-8710-2FED-BC83B53B2C5C}"/>
              </a:ext>
            </a:extLst>
          </p:cNvPr>
          <p:cNvSpPr txBox="1"/>
          <p:nvPr/>
        </p:nvSpPr>
        <p:spPr>
          <a:xfrm>
            <a:off x="163902" y="511760"/>
            <a:ext cx="32435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Bahnschrift Condensed" panose="020B0502040204020203" pitchFamily="34" charset="0"/>
              </a:rPr>
              <a:t>ст. Электрозаводская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36D857A-AB3A-81E3-93BD-42AFDD9CC9BB}"/>
              </a:ext>
            </a:extLst>
          </p:cNvPr>
          <p:cNvSpPr txBox="1"/>
          <p:nvPr/>
        </p:nvSpPr>
        <p:spPr>
          <a:xfrm>
            <a:off x="163902" y="3090446"/>
            <a:ext cx="3243532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i="0" dirty="0">
                <a:solidFill>
                  <a:srgbClr val="0A0A0A"/>
                </a:solidFill>
                <a:effectLst/>
                <a:latin typeface="Bahnschrift Light Condensed" panose="020B0502040204020203" pitchFamily="34" charset="0"/>
              </a:rPr>
              <a:t>Электрозаводский мост — это важный транспортный узел в Москве, соединяющий Басманный район (ЦАО) и район Соколиная Гора (ВАО). Он обеспечивает движение автомобильного транспорта и пешеходов по Большой Семёновской улице через реку Яузу. </a:t>
            </a:r>
            <a:br>
              <a:rPr lang="ru-RU" sz="1600" dirty="0">
                <a:latin typeface="Bahnschrift Light Condensed" panose="020B0502040204020203" pitchFamily="34" charset="0"/>
              </a:rPr>
            </a:br>
            <a:endParaRPr lang="ru-RU" sz="1600" dirty="0">
              <a:latin typeface="Bahnschrift Ligh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281588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Музей «Фабрика елочных игрушек»">
            <a:extLst>
              <a:ext uri="{FF2B5EF4-FFF2-40B4-BE49-F238E27FC236}">
                <a16:creationId xmlns:a16="http://schemas.microsoft.com/office/drawing/2014/main" id="{7988FF50-EF27-7917-6761-9A9C94FDD0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2937" y="0"/>
            <a:ext cx="1027906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ABDFCF-2BB8-1DB9-58A7-DC5B010518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18269B5-6E5B-97C0-2A90-AAE5003D95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BA5CA25-3F90-E834-09CC-229964BC61D1}"/>
              </a:ext>
            </a:extLst>
          </p:cNvPr>
          <p:cNvSpPr/>
          <p:nvPr/>
        </p:nvSpPr>
        <p:spPr>
          <a:xfrm>
            <a:off x="0" y="0"/>
            <a:ext cx="3528204" cy="6858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6453815-3F07-BDD7-1BD1-31888464EB7F}"/>
              </a:ext>
            </a:extLst>
          </p:cNvPr>
          <p:cNvSpPr txBox="1"/>
          <p:nvPr/>
        </p:nvSpPr>
        <p:spPr>
          <a:xfrm>
            <a:off x="163902" y="181155"/>
            <a:ext cx="32435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latin typeface="Bahnschrift Condensed" panose="020B0502040204020203" pitchFamily="34" charset="0"/>
              </a:rPr>
              <a:t>Арбатско-Покровская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533A6D4-F2FA-B522-C50E-E8697B5C6DE9}"/>
              </a:ext>
            </a:extLst>
          </p:cNvPr>
          <p:cNvSpPr txBox="1"/>
          <p:nvPr/>
        </p:nvSpPr>
        <p:spPr>
          <a:xfrm>
            <a:off x="163902" y="511760"/>
            <a:ext cx="32435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Bahnschrift Condensed" panose="020B0502040204020203" pitchFamily="34" charset="0"/>
              </a:rPr>
              <a:t>ст. Электрозаводская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EAC8B22-8085-C6DF-30BF-F81FEFA874AA}"/>
              </a:ext>
            </a:extLst>
          </p:cNvPr>
          <p:cNvSpPr txBox="1"/>
          <p:nvPr/>
        </p:nvSpPr>
        <p:spPr>
          <a:xfrm>
            <a:off x="163902" y="3090446"/>
            <a:ext cx="3243532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effectLst/>
                <a:latin typeface="Bahnschrift Light Condensed" panose="020B0502040204020203" pitchFamily="34" charset="0"/>
              </a:rPr>
              <a:t>Музей-фабрика ёлочных игрушек в Москве</a:t>
            </a:r>
            <a:r>
              <a:rPr lang="ru-RU" sz="1600" dirty="0">
                <a:latin typeface="Bahnschrift Light Condensed" panose="020B0502040204020203" pitchFamily="34" charset="0"/>
              </a:rPr>
              <a:t> временно закрыт на ремонт в связи с переездом в собственный особняк по адресу </a:t>
            </a:r>
            <a:r>
              <a:rPr lang="ru-RU" sz="1600" dirty="0">
                <a:effectLst/>
                <a:latin typeface="Bahnschrift Light Condensed" panose="020B0502040204020203" pitchFamily="34" charset="0"/>
              </a:rPr>
              <a:t>ул. Ткацкая, д. 10</a:t>
            </a:r>
            <a:r>
              <a:rPr lang="ru-RU" sz="1600" dirty="0">
                <a:latin typeface="Bahnschrift Light Condensed" panose="020B0502040204020203" pitchFamily="34" charset="0"/>
              </a:rPr>
              <a:t> (станция метро «Семёновская»)</a:t>
            </a:r>
            <a:r>
              <a:rPr lang="ru-RU" sz="1600" i="0" dirty="0">
                <a:solidFill>
                  <a:srgbClr val="0A0A0A"/>
                </a:solidFill>
                <a:effectLst/>
                <a:latin typeface="Bahnschrift Light Condensed" panose="020B0502040204020203" pitchFamily="34" charset="0"/>
              </a:rPr>
              <a:t>. Открытие обновленной интерактивной экспозиции и старт бронирования билетов на новый сезон запланированы на 4 сентября 2026 года.</a:t>
            </a:r>
            <a:endParaRPr lang="ru-RU" sz="1600" dirty="0">
              <a:latin typeface="Bahnschrift Ligh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213422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Московский электроламповый завод">
            <a:extLst>
              <a:ext uri="{FF2B5EF4-FFF2-40B4-BE49-F238E27FC236}">
                <a16:creationId xmlns:a16="http://schemas.microsoft.com/office/drawing/2014/main" id="{2ACEA4C8-2650-1856-085A-DAC37F0F460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14" r="20131" b="4905"/>
          <a:stretch/>
        </p:blipFill>
        <p:spPr bwMode="auto">
          <a:xfrm>
            <a:off x="3407434" y="-1"/>
            <a:ext cx="8784566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ABDFCF-2BB8-1DB9-58A7-DC5B010518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18269B5-6E5B-97C0-2A90-AAE5003D95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BA5CA25-3F90-E834-09CC-229964BC61D1}"/>
              </a:ext>
            </a:extLst>
          </p:cNvPr>
          <p:cNvSpPr/>
          <p:nvPr/>
        </p:nvSpPr>
        <p:spPr>
          <a:xfrm>
            <a:off x="0" y="0"/>
            <a:ext cx="3528204" cy="6858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C09E52-5D6D-A742-257C-1E457195AE49}"/>
              </a:ext>
            </a:extLst>
          </p:cNvPr>
          <p:cNvSpPr txBox="1"/>
          <p:nvPr/>
        </p:nvSpPr>
        <p:spPr>
          <a:xfrm>
            <a:off x="163902" y="181155"/>
            <a:ext cx="32435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latin typeface="Bahnschrift Condensed" panose="020B0502040204020203" pitchFamily="34" charset="0"/>
              </a:rPr>
              <a:t>Арбатско-Покровская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A7DD0AA-DB98-D791-33AC-8DF956B7D06F}"/>
              </a:ext>
            </a:extLst>
          </p:cNvPr>
          <p:cNvSpPr txBox="1"/>
          <p:nvPr/>
        </p:nvSpPr>
        <p:spPr>
          <a:xfrm>
            <a:off x="163902" y="511760"/>
            <a:ext cx="32435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Bahnschrift Condensed" panose="020B0502040204020203" pitchFamily="34" charset="0"/>
              </a:rPr>
              <a:t>ст. Электрозаводская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7451701-37A7-F5B3-294E-63C4A5374162}"/>
              </a:ext>
            </a:extLst>
          </p:cNvPr>
          <p:cNvSpPr txBox="1"/>
          <p:nvPr/>
        </p:nvSpPr>
        <p:spPr>
          <a:xfrm>
            <a:off x="163902" y="3090446"/>
            <a:ext cx="324353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i="0" dirty="0">
                <a:solidFill>
                  <a:srgbClr val="0A0A0A"/>
                </a:solidFill>
                <a:effectLst/>
                <a:latin typeface="Bahnschrift Light Condensed" panose="020B0502040204020203" pitchFamily="34" charset="0"/>
              </a:rPr>
              <a:t>Историческое здание Электрозавода (где долгие годы работал МЭЛЗ) — это </a:t>
            </a:r>
            <a:r>
              <a:rPr lang="ru-RU" sz="1600" dirty="0">
                <a:latin typeface="Bahnschrift Light Condensed" panose="020B0502040204020203" pitchFamily="34" charset="0"/>
              </a:rPr>
              <a:t>знаменитый памятник промышленной архитектуры в Москве, расположенный по адресу </a:t>
            </a:r>
            <a:r>
              <a:rPr lang="ru-RU" sz="1600" dirty="0">
                <a:effectLst/>
                <a:latin typeface="Bahnschrift Light Condensed" panose="020B0502040204020203" pitchFamily="34" charset="0"/>
              </a:rPr>
              <a:t>ул. Электрозаводская, д. 21</a:t>
            </a:r>
            <a:r>
              <a:rPr lang="ru-RU" sz="1600" i="0" dirty="0">
                <a:solidFill>
                  <a:srgbClr val="0A0A0A"/>
                </a:solidFill>
                <a:effectLst/>
                <a:latin typeface="Bahnschrift Light Condensed" panose="020B0502040204020203" pitchFamily="34" charset="0"/>
              </a:rPr>
              <a:t>. Главный корпус выделяется своим уникальным готическим стилем, напоминающим средневековый замок или ратушу. </a:t>
            </a:r>
            <a:br>
              <a:rPr lang="ru-RU" sz="1600" dirty="0">
                <a:latin typeface="Bahnschrift Light Condensed" panose="020B0502040204020203" pitchFamily="34" charset="0"/>
              </a:rPr>
            </a:br>
            <a:endParaRPr lang="ru-RU" sz="1600" dirty="0">
              <a:latin typeface="Bahnschrift Ligh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750744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Памятник русскому гвардейцу Семёновского полка. Памятник русскому гвардейцу  Семёновского полка / Monument Russian guardsman of Semenovsky regiment">
            <a:extLst>
              <a:ext uri="{FF2B5EF4-FFF2-40B4-BE49-F238E27FC236}">
                <a16:creationId xmlns:a16="http://schemas.microsoft.com/office/drawing/2014/main" id="{8928E67E-8CA6-443C-300B-CCA6D11FD9A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796"/>
          <a:stretch/>
        </p:blipFill>
        <p:spPr bwMode="auto">
          <a:xfrm>
            <a:off x="2531063" y="0"/>
            <a:ext cx="9654611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ABDFCF-2BB8-1DB9-58A7-DC5B010518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18269B5-6E5B-97C0-2A90-AAE5003D95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BA5CA25-3F90-E834-09CC-229964BC61D1}"/>
              </a:ext>
            </a:extLst>
          </p:cNvPr>
          <p:cNvSpPr/>
          <p:nvPr/>
        </p:nvSpPr>
        <p:spPr>
          <a:xfrm>
            <a:off x="0" y="0"/>
            <a:ext cx="3528204" cy="6858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1B8ABD-70AF-282D-BA39-099598DD278D}"/>
              </a:ext>
            </a:extLst>
          </p:cNvPr>
          <p:cNvSpPr txBox="1"/>
          <p:nvPr/>
        </p:nvSpPr>
        <p:spPr>
          <a:xfrm>
            <a:off x="163902" y="181155"/>
            <a:ext cx="32435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latin typeface="Bahnschrift Condensed" panose="020B0502040204020203" pitchFamily="34" charset="0"/>
              </a:rPr>
              <a:t>Арбатско-Покровская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973F84A-50C1-7E44-8CE1-6A33B3308963}"/>
              </a:ext>
            </a:extLst>
          </p:cNvPr>
          <p:cNvSpPr txBox="1"/>
          <p:nvPr/>
        </p:nvSpPr>
        <p:spPr>
          <a:xfrm>
            <a:off x="163902" y="511760"/>
            <a:ext cx="32435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Bahnschrift Condensed" panose="020B0502040204020203" pitchFamily="34" charset="0"/>
              </a:rPr>
              <a:t>ст. Семёновская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FDAA228-61B0-769C-BF57-FD7D96AD4940}"/>
              </a:ext>
            </a:extLst>
          </p:cNvPr>
          <p:cNvSpPr txBox="1"/>
          <p:nvPr/>
        </p:nvSpPr>
        <p:spPr>
          <a:xfrm>
            <a:off x="163902" y="3090446"/>
            <a:ext cx="3243532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i="0" dirty="0">
                <a:solidFill>
                  <a:srgbClr val="0A0A0A"/>
                </a:solidFill>
                <a:effectLst/>
                <a:latin typeface="Bahnschrift Light Condensed" panose="020B0502040204020203" pitchFamily="34" charset="0"/>
              </a:rPr>
              <a:t>Памятник Русскому гвардейцу Семёновского полка </a:t>
            </a:r>
            <a:r>
              <a:rPr lang="ru-RU" sz="1600" dirty="0">
                <a:latin typeface="Bahnschrift Light Condensed" panose="020B0502040204020203" pitchFamily="34" charset="0"/>
              </a:rPr>
              <a:t>расположен в Москве на </a:t>
            </a:r>
            <a:r>
              <a:rPr lang="ru-RU" sz="1600" dirty="0">
                <a:effectLst/>
                <a:latin typeface="Bahnschrift Light Condensed" panose="020B0502040204020203" pitchFamily="34" charset="0"/>
              </a:rPr>
              <a:t>Семёновской площади</a:t>
            </a:r>
            <a:r>
              <a:rPr lang="ru-RU" sz="1600" dirty="0">
                <a:latin typeface="Bahnschrift Light Condensed" panose="020B0502040204020203" pitchFamily="34" charset="0"/>
              </a:rPr>
              <a:t> (возле бизнес-центра «Соколиная гора» и станции метро «Семёновская»)</a:t>
            </a:r>
            <a:r>
              <a:rPr lang="ru-RU" sz="1600" i="0" dirty="0">
                <a:solidFill>
                  <a:srgbClr val="0A0A0A"/>
                </a:solidFill>
                <a:effectLst/>
                <a:latin typeface="Bahnschrift Light Condensed" panose="020B0502040204020203" pitchFamily="34" charset="0"/>
              </a:rPr>
              <a:t>. Он был торжественно открыт 11 октября 2008 года. Открытие монумента приурочили к 325-летию со дня основания легендарного Семёновского полка, который зародился именно здесь в 1683 году как «потешное» войско Петра I. </a:t>
            </a:r>
            <a:br>
              <a:rPr lang="ru-RU" sz="1600" dirty="0">
                <a:latin typeface="Bahnschrift Light Condensed" panose="020B0502040204020203" pitchFamily="34" charset="0"/>
              </a:rPr>
            </a:br>
            <a:endParaRPr lang="ru-RU" sz="1600" dirty="0">
              <a:latin typeface="Bahnschrift Ligh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560443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Измайловский Кремль">
            <a:extLst>
              <a:ext uri="{FF2B5EF4-FFF2-40B4-BE49-F238E27FC236}">
                <a16:creationId xmlns:a16="http://schemas.microsoft.com/office/drawing/2014/main" id="{0F4A7DA1-15A6-1438-AAAF-0A5D8B6DCFA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77" r="15381"/>
          <a:stretch/>
        </p:blipFill>
        <p:spPr bwMode="auto">
          <a:xfrm>
            <a:off x="3528204" y="0"/>
            <a:ext cx="8663796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ABDFCF-2BB8-1DB9-58A7-DC5B010518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18269B5-6E5B-97C0-2A90-AAE5003D95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BA5CA25-3F90-E834-09CC-229964BC61D1}"/>
              </a:ext>
            </a:extLst>
          </p:cNvPr>
          <p:cNvSpPr/>
          <p:nvPr/>
        </p:nvSpPr>
        <p:spPr>
          <a:xfrm>
            <a:off x="0" y="0"/>
            <a:ext cx="3528204" cy="6858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D1C20ED-DB6F-BDE3-EFB6-14F3130D9885}"/>
              </a:ext>
            </a:extLst>
          </p:cNvPr>
          <p:cNvSpPr txBox="1"/>
          <p:nvPr/>
        </p:nvSpPr>
        <p:spPr>
          <a:xfrm>
            <a:off x="163902" y="181155"/>
            <a:ext cx="32435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latin typeface="Bahnschrift Condensed" panose="020B0502040204020203" pitchFamily="34" charset="0"/>
              </a:rPr>
              <a:t>Арбатско-Покровская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B975402-CFA6-480C-EB7A-086FAE470003}"/>
              </a:ext>
            </a:extLst>
          </p:cNvPr>
          <p:cNvSpPr txBox="1"/>
          <p:nvPr/>
        </p:nvSpPr>
        <p:spPr>
          <a:xfrm>
            <a:off x="163902" y="511760"/>
            <a:ext cx="32435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Bahnschrift Condensed" panose="020B0502040204020203" pitchFamily="34" charset="0"/>
              </a:rPr>
              <a:t>ст. Семёновская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84731DD-18AF-BE6F-A70D-0BA5249B725C}"/>
              </a:ext>
            </a:extLst>
          </p:cNvPr>
          <p:cNvSpPr txBox="1"/>
          <p:nvPr/>
        </p:nvSpPr>
        <p:spPr>
          <a:xfrm>
            <a:off x="163902" y="3090446"/>
            <a:ext cx="3243532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i="0" dirty="0">
                <a:solidFill>
                  <a:srgbClr val="0A0A0A"/>
                </a:solidFill>
                <a:effectLst/>
                <a:latin typeface="Bahnschrift Light Condensed" panose="020B0502040204020203" pitchFamily="34" charset="0"/>
              </a:rPr>
              <a:t>Кремль в Измайлово — это </a:t>
            </a:r>
            <a:r>
              <a:rPr lang="ru-RU" sz="1600" dirty="0">
                <a:latin typeface="Bahnschrift Light Condensed" panose="020B0502040204020203" pitchFamily="34" charset="0"/>
              </a:rPr>
              <a:t>культурно-развлекательный комплекс на востоке Москвы, построенный в 1998–2007 годах и стилизованный под русское деревянное зодчество XVI–XVII веков</a:t>
            </a:r>
            <a:r>
              <a:rPr lang="ru-RU" sz="1600" i="0" dirty="0">
                <a:solidFill>
                  <a:srgbClr val="0A0A0A"/>
                </a:solidFill>
                <a:effectLst/>
                <a:latin typeface="Bahnschrift Light Condensed" panose="020B0502040204020203" pitchFamily="34" charset="0"/>
              </a:rPr>
              <a:t>. Вход на саму уличную территорию бесплатный. Комплекс работает ежедневно с 09:00 до 21:00. </a:t>
            </a:r>
            <a:br>
              <a:rPr lang="ru-RU" sz="1600" dirty="0">
                <a:latin typeface="Bahnschrift Light Condensed" panose="020B0502040204020203" pitchFamily="34" charset="0"/>
              </a:rPr>
            </a:br>
            <a:endParaRPr lang="ru-RU" sz="1600" dirty="0">
              <a:latin typeface="Bahnschrift Ligh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216241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Храм Воскресения Христова на Семеновском кладбище - История Храма">
            <a:extLst>
              <a:ext uri="{FF2B5EF4-FFF2-40B4-BE49-F238E27FC236}">
                <a16:creationId xmlns:a16="http://schemas.microsoft.com/office/drawing/2014/main" id="{68E6B190-E1B7-2FA1-0690-4B525DB51D5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808" r="9748"/>
          <a:stretch/>
        </p:blipFill>
        <p:spPr bwMode="auto">
          <a:xfrm>
            <a:off x="3528204" y="0"/>
            <a:ext cx="8663796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ABDFCF-2BB8-1DB9-58A7-DC5B010518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18269B5-6E5B-97C0-2A90-AAE5003D95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BA5CA25-3F90-E834-09CC-229964BC61D1}"/>
              </a:ext>
            </a:extLst>
          </p:cNvPr>
          <p:cNvSpPr/>
          <p:nvPr/>
        </p:nvSpPr>
        <p:spPr>
          <a:xfrm>
            <a:off x="0" y="0"/>
            <a:ext cx="3528204" cy="6858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9A1C6CA-4C0D-5A83-54D0-9717B239549F}"/>
              </a:ext>
            </a:extLst>
          </p:cNvPr>
          <p:cNvSpPr txBox="1"/>
          <p:nvPr/>
        </p:nvSpPr>
        <p:spPr>
          <a:xfrm>
            <a:off x="163902" y="181155"/>
            <a:ext cx="32435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>
                <a:latin typeface="Bahnschrift Condensed" panose="020B0502040204020203" pitchFamily="34" charset="0"/>
              </a:rPr>
              <a:t>Арбатско-Покровская</a:t>
            </a:r>
            <a:endParaRPr lang="ru-RU" sz="2000" dirty="0">
              <a:latin typeface="Bahnschrift Condensed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EE67E31-C48E-AF51-90A6-2E51C9A55ECE}"/>
              </a:ext>
            </a:extLst>
          </p:cNvPr>
          <p:cNvSpPr txBox="1"/>
          <p:nvPr/>
        </p:nvSpPr>
        <p:spPr>
          <a:xfrm>
            <a:off x="163902" y="511760"/>
            <a:ext cx="32435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Bahnschrift Condensed" panose="020B0502040204020203" pitchFamily="34" charset="0"/>
              </a:rPr>
              <a:t>ст. Семёновская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2D39876-E839-3376-44B0-F6E3367E250E}"/>
              </a:ext>
            </a:extLst>
          </p:cNvPr>
          <p:cNvSpPr txBox="1"/>
          <p:nvPr/>
        </p:nvSpPr>
        <p:spPr>
          <a:xfrm>
            <a:off x="163902" y="3090446"/>
            <a:ext cx="3243532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i="0" dirty="0">
                <a:solidFill>
                  <a:srgbClr val="0A0A0A"/>
                </a:solidFill>
                <a:effectLst/>
                <a:latin typeface="Bahnschrift Light Condensed" panose="020B0502040204020203" pitchFamily="34" charset="0"/>
              </a:rPr>
              <a:t>Храм Воскресения Христова на бывшем Семёновском кладбище — это </a:t>
            </a:r>
            <a:r>
              <a:rPr lang="ru-RU" sz="1600" dirty="0">
                <a:latin typeface="Bahnschrift Light Condensed" panose="020B0502040204020203" pitchFamily="34" charset="0"/>
              </a:rPr>
              <a:t>действующий православный храм в Москве, расположенный в районе Соколиная Гора</a:t>
            </a:r>
            <a:r>
              <a:rPr lang="ru-RU" sz="1600" i="0" dirty="0">
                <a:solidFill>
                  <a:srgbClr val="0A0A0A"/>
                </a:solidFill>
                <a:effectLst/>
                <a:latin typeface="Bahnschrift Light Condensed" panose="020B0502040204020203" pitchFamily="34" charset="0"/>
              </a:rPr>
              <a:t>. Он имеет статус Патриаршего подворья и является единственным сохранившимся сооружением некогда огромного Семёновского некрополя.</a:t>
            </a:r>
            <a:endParaRPr lang="ru-RU" sz="1600" dirty="0">
              <a:latin typeface="Bahnschrift Ligh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250064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263</TotalTime>
  <Words>1419</Words>
  <Application>Microsoft Office PowerPoint</Application>
  <PresentationFormat>Широкоэкранный</PresentationFormat>
  <Paragraphs>101</Paragraphs>
  <Slides>33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33</vt:i4>
      </vt:variant>
    </vt:vector>
  </HeadingPairs>
  <TitlesOfParts>
    <vt:vector size="39" baseType="lpstr">
      <vt:lpstr>Aptos</vt:lpstr>
      <vt:lpstr>Aptos Display</vt:lpstr>
      <vt:lpstr>Arial</vt:lpstr>
      <vt:lpstr>Bahnschrift Condensed</vt:lpstr>
      <vt:lpstr>Bahnschrift Light Condensed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Лизок</dc:creator>
  <cp:lastModifiedBy>Лизок</cp:lastModifiedBy>
  <cp:revision>9</cp:revision>
  <dcterms:created xsi:type="dcterms:W3CDTF">2026-04-20T18:33:53Z</dcterms:created>
  <dcterms:modified xsi:type="dcterms:W3CDTF">2026-05-16T17:29:13Z</dcterms:modified>
</cp:coreProperties>
</file>